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1A1A2E"/>
                </a:solidFill>
                <a:latin typeface="Georgia"/>
              </a:rPr>
              <a:t>ARR по сценариям, тыс. ₽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Optimistic</c:v>
                </c:pt>
              </c:strCache>
            </c:strRef>
          </c:tx>
          <c:spPr>
            <a:ln w="31750" cap="flat">
              <a:solidFill>
                <a:srgbClr val="D4AF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F37"/>
              </a:solidFill>
              <a:ln w="9525" cap="flat">
                <a:solidFill>
                  <a:srgbClr val="D4AF37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165</c:v>
                </c:pt>
                <c:pt idx="1">
                  <c:v>824</c:v>
                </c:pt>
                <c:pt idx="2">
                  <c:v>1540</c:v>
                </c:pt>
                <c:pt idx="3">
                  <c:v>2170</c:v>
                </c:pt>
                <c:pt idx="4">
                  <c:v>3240</c:v>
                </c:pt>
                <c:pt idx="5">
                  <c:v>4580</c:v>
                </c:pt>
                <c:pt idx="6">
                  <c:v>6080</c:v>
                </c:pt>
                <c:pt idx="7">
                  <c:v>7720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F78-9247-9567-7E6947B7EA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31750" cap="flat">
              <a:solidFill>
                <a:srgbClr val="8B1A1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1A1A"/>
              </a:solidFill>
              <a:ln w="9525" cap="flat">
                <a:solidFill>
                  <a:srgbClr val="8B1A1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84</c:v>
                </c:pt>
                <c:pt idx="1">
                  <c:v>411</c:v>
                </c:pt>
                <c:pt idx="2">
                  <c:v>752</c:v>
                </c:pt>
                <c:pt idx="3">
                  <c:v>1085</c:v>
                </c:pt>
                <c:pt idx="4">
                  <c:v>1705</c:v>
                </c:pt>
                <c:pt idx="5">
                  <c:v>2460</c:v>
                </c:pt>
                <c:pt idx="6">
                  <c:v>3320</c:v>
                </c:pt>
                <c:pt idx="7">
                  <c:v>4220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F78-9247-9567-7E6947B7EA1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Conservative</c:v>
                </c:pt>
              </c:strCache>
            </c:strRef>
          </c:tx>
          <c:spPr>
            <a:ln w="31750" cap="flat">
              <a:solidFill>
                <a:srgbClr val="6B72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35</c:v>
                </c:pt>
                <c:pt idx="1">
                  <c:v>130</c:v>
                </c:pt>
                <c:pt idx="2">
                  <c:v>285</c:v>
                </c:pt>
                <c:pt idx="3">
                  <c:v>480</c:v>
                </c:pt>
                <c:pt idx="4">
                  <c:v>750</c:v>
                </c:pt>
                <c:pt idx="5">
                  <c:v>1050</c:v>
                </c:pt>
                <c:pt idx="6">
                  <c:v>1360</c:v>
                </c:pt>
                <c:pt idx="7">
                  <c:v>1660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F78-9247-9567-7E6947B7EA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CFB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1E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5F1E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551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2286000"/>
            <a:ext cx="5029200" cy="5029200"/>
          </a:xfrm>
          <a:prstGeom prst="ellipse">
            <a:avLst/>
          </a:prstGeom>
          <a:solidFill>
            <a:srgbClr val="8B1A1A">
              <a:alpha val="25000"/>
            </a:srgbClr>
          </a:solidFill>
          <a:ln w="12700">
            <a:solidFill>
              <a:srgbClr val="14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914400"/>
            <a:ext cx="2926080" cy="2926080"/>
          </a:xfrm>
          <a:prstGeom prst="ellipse">
            <a:avLst/>
          </a:prstGeom>
          <a:solidFill>
            <a:srgbClr val="D4AF37">
              <a:alpha val="18000"/>
            </a:srgbClr>
          </a:solidFill>
          <a:ln w="12700">
            <a:solidFill>
              <a:srgbClr val="14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0" cy="2926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GameMaster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4572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Все играют — никто не ведёт.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 с голосовым ИИ-ведущим для игры в Мафию. Полная партия за 25 минут — без живого ведущего, в браузере, для офлайн и онлайн компаний.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8046720" cy="0"/>
          </a:xfrm>
          <a:prstGeom prst="line">
            <a:avLst/>
          </a:prstGeom>
          <a:noFill/>
          <a:ln w="9525">
            <a:solidFill>
              <a:srgbClr val="8A8A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</a:t>
            </a: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млн ₽ seed</a:t>
            </a:r>
            <a:r>
              <a:rPr lang="en-US" sz="13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Post-money: </a:t>
            </a: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млн ₽</a:t>
            </a:r>
            <a:r>
              <a:rPr lang="en-US" sz="13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Runway: </a:t>
            </a: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месяцев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aigamemaster.ru   ·   Москва,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GameMaster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компании 6 человек играют 5: один — за бортом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Ведущий не может быть игроком. Текстовые приложения убирают атмосферу. Живой ведущий — дорог и нестабилен.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6060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260604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660904"/>
            <a:ext cx="301752" cy="301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8580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Жертвуют игроком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4114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дворовых партиях кто-то выпадает из игры ради ведения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0" y="2286000"/>
            <a:ext cx="26060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2286000"/>
            <a:ext cx="260604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29000" y="2560320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2660904"/>
            <a:ext cx="301752" cy="30175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29000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1500–3000 ₽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342900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живого ведущего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429000" y="4114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Антикафе платят за час; ведущие нестабильны и срывают вечера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943600" y="2286000"/>
            <a:ext cx="26060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943600" y="2286000"/>
            <a:ext cx="260604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72200" y="2560320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2660904"/>
            <a:ext cx="301752" cy="30175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72200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27" name="Text 22"/>
          <p:cNvSpPr/>
          <p:nvPr/>
        </p:nvSpPr>
        <p:spPr>
          <a:xfrm>
            <a:off x="617220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Голосовых конкурентов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172200" y="4114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«Мафия Ведущий», True Mafia, StoryForge — всё текст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12 CustDev-интервью (апрель 2026); 2GIS-обзор по 14 антикафе МСК; ручной анализ 6 конкурентов.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GameMaster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Хосты компаний 18–35 лет в МСК и СПб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Играют в мафию ≥ 1 раза в месяц — офлайн (дома, в антикафе) или онлайн (удалённо)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2062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73152" cy="24688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377440"/>
            <a:ext cx="914400" cy="9144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6032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8308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«Алексей, 24, IT-аналитик»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830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 компании 8 друзей, играют 2 раза в месяц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3474720"/>
            <a:ext cx="3657600" cy="960120"/>
          </a:xfrm>
          <a:prstGeom prst="rect">
            <a:avLst/>
          </a:prstGeom>
          <a:solidFill>
            <a:srgbClr val="EFEAD9"/>
          </a:solidFill>
          <a:ln w="12700">
            <a:solidFill>
              <a:srgbClr val="EFEA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3520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«Хочу провести вечер мафии с друзьями, не жертвуя ни одним игроком и без необходимости платить за ведущего»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BEACHHEAD-СЕГМЕНТА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23774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80 000</a:t>
            </a:r>
            <a:endParaRPr lang="en-US" sz="5000" dirty="0"/>
          </a:p>
        </p:txBody>
      </p:sp>
      <p:sp>
        <p:nvSpPr>
          <p:cNvPr id="18" name="Text 15"/>
          <p:cNvSpPr/>
          <p:nvPr/>
        </p:nvSpPr>
        <p:spPr>
          <a:xfrm>
            <a:off x="493776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хостов в МСК + СПб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937760" y="3584448"/>
            <a:ext cx="109728" cy="10972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38928" y="35204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Возраст: 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18–35 лет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937760" y="3858768"/>
            <a:ext cx="109728" cy="10972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38928" y="37947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игр: 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игроков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937760" y="4133088"/>
            <a:ext cx="109728" cy="10972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38928" y="406908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Частота: 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партии в месяц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937760" y="4407408"/>
            <a:ext cx="109728" cy="10972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38928" y="434340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общения компании: 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Telegram-чат, ВК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Допущение: оценка по аудитории 30+ Telegram-каналов и ВК-сообществ по настолкам в МСК/СПб.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GameMaster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/ MVP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Веб-приложение с голосовой озвучкой ведущего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Заходишь на сайт → создаёшь комнату → друзья подключаются по 6-символьному коду → играем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697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47802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2677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с характером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80160" y="2560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Pre-recorded mp3, два характера, задержка &lt; 300 мс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2103120"/>
            <a:ext cx="2697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29000" y="2377440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247802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22677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игроков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069080" y="2560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участники в одной сессии со своих смартфонов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2103120"/>
            <a:ext cx="2697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2377440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2478024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0" y="22677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за 60 сек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858000" y="2560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установки. Открыл сайт — играй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3383280"/>
            <a:ext cx="2697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375818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0160" y="35478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 + онлайн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280160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одной комнате или удалённо — оба сценария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46120" y="3383280"/>
            <a:ext cx="2697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429000" y="3657600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584" y="3758184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069080" y="35478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состояния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069080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WebSocket; реконнект после разрыва за 5 сек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035040" y="3383280"/>
            <a:ext cx="2697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217920" y="3657600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504" y="3758184"/>
            <a:ext cx="301752" cy="30175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58000" y="35478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игровой цикл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6858000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Роли, ночь, голосование, объявление победителя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готово: React + FastAPI + PostgreSQL + WebSocket; ~ 250 mp3 в библиотеке; 24 пилотных партии (апрель 2026).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GameMaster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21 млрд ₽ → SAM 1,78 млрд ₽ → SOM 89 млн 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20574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млрд 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71576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18–35 РФ × 600 ₽/год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2898648"/>
            <a:ext cx="6400800" cy="640080"/>
          </a:xfrm>
          <a:prstGeom prst="rect">
            <a:avLst/>
          </a:prstGeom>
          <a:solidFill>
            <a:srgbClr val="8B1A1A">
              <a:alpha val="75000"/>
            </a:srgbClr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8986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0" y="28986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1,78 млрд ₽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557016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 млн чел., играющих ≥ 1 раз/мес × 990 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3739896"/>
            <a:ext cx="4572000" cy="6400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73989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57600" y="373989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 млн ₽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286000" y="439826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SAM на горизонте 3 лет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Mediascope 2024 (аудитория 18–35 в РФ); собственная оценка частоты игр и доли платящих.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GameMaster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Голос + автоматизация + браузер — никто больше так не делает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49377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0" cy="251460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5262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АВТОМАТИЗАЦИЯ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0" y="1965960"/>
            <a:ext cx="0" cy="2514600"/>
          </a:xfrm>
          <a:prstGeom prst="line">
            <a:avLst/>
          </a:prstGeom>
          <a:noFill/>
          <a:ln w="6350">
            <a:solidFill>
              <a:srgbClr val="D7CF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48640" y="3223260"/>
            <a:ext cx="4937760" cy="0"/>
          </a:xfrm>
          <a:prstGeom prst="line">
            <a:avLst/>
          </a:prstGeom>
          <a:noFill/>
          <a:ln w="6350">
            <a:solidFill>
              <a:srgbClr val="D7CF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156716" y="2208276"/>
            <a:ext cx="246888" cy="24688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" y="25008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Мафия Ведущий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568196" y="2665476"/>
            <a:ext cx="246888" cy="24688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580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Mafia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156716" y="3214116"/>
            <a:ext cx="246888" cy="24688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" y="35067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StoryForge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96796" y="3945636"/>
            <a:ext cx="246888" cy="24688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82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Polemica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99916" y="4037076"/>
            <a:ext cx="246888" cy="24688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43296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ведущий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76956" y="3625596"/>
            <a:ext cx="246888" cy="24688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39182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66260" y="2125980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5831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GameMaster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1965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 НАС УНИКАЛЬНО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2404872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331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с характером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1792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Pre-recorded mp3 с двумя характерами, не текст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0" y="2999232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автоматизация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17920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Раздача ролей, ночные действия, голосование, финал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0" y="3593592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17920" y="3794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установки. Офлайн и онлайн режимы из коробки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0" y="4187952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4114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98,8%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217920" y="4389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Pre-recorded mp3 → COGS ≈ 0,3 ₽/партия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ручной анализ 6 конкурентов (март 2026); карты сравнения по фичам и стоимости.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GameMaster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→ Pro 99 ₽/мес → B2B 4 990 ₽/мес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pre-recorded mp3 → Gross margin 98,8% (vs 11–20% у TTS-конкурентов)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060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260604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₽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31729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5 игроков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2057400" cy="0"/>
          </a:xfrm>
          <a:prstGeom prst="line">
            <a:avLst/>
          </a:prstGeom>
          <a:noFill/>
          <a:ln w="6350">
            <a:solidFill>
              <a:srgbClr val="D7CF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11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голосовой характер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8313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8313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роли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0507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050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рефералов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194560"/>
            <a:ext cx="2606040" cy="2423160"/>
          </a:xfrm>
          <a:prstGeom prst="rect">
            <a:avLst/>
          </a:prstGeom>
          <a:solidFill>
            <a:srgbClr val="141220"/>
          </a:solidFill>
          <a:ln w="6350">
            <a:solidFill>
              <a:srgbClr val="14122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194560"/>
            <a:ext cx="260604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377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2651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 ₽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474720" y="31729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мес · до 20 игроков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3474720"/>
            <a:ext cx="2057400" cy="0"/>
          </a:xfrm>
          <a:prstGeom prst="line">
            <a:avLst/>
          </a:prstGeom>
          <a:noFill/>
          <a:ln w="6350">
            <a:solidFill>
              <a:srgbClr val="8A8A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611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голосовых характера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38313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03320" y="38313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Расширенные роли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0" y="40507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03320" y="4050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Реферальный бонус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0" y="4270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03320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партий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2194560"/>
            <a:ext cx="26060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0" y="2194560"/>
            <a:ext cx="260604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377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STANDARD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2651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4 990 ₽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0" y="31729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мес · 1 локация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3474720"/>
            <a:ext cx="2057400" cy="0"/>
          </a:xfrm>
          <a:prstGeom prst="line">
            <a:avLst/>
          </a:prstGeom>
          <a:noFill/>
          <a:ln w="6350">
            <a:solidFill>
              <a:srgbClr val="D7CF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611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Безлимит партий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38313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46520" y="38313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24 игроков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40507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46520" y="4050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99%, email-саппорт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17920" y="4270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46520" y="4270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столами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Pro: </a:t>
            </a:r>
            <a:r>
              <a:rPr lang="en-US" sz="10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99 ₽ · COGS 1,2 ₽ · GM 98,8%</a:t>
            </a: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B2B Std: </a:t>
            </a:r>
            <a:r>
              <a:rPr lang="en-US" sz="10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 4 990 ₽ · GM 99,8% · LTV/CAC ≈ 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GameMaster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/ GROWTH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Социальная виральность встроена в саму игру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партия = 5–20 человек, ознакомленных с продуктом. Целевой k-фактор 0,7 за 12 месяцев.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 создаёт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комнату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26060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6060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друзей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сайте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0" y="36576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6576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Партия завершена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(NSM ≥ 75%)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→ новые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хосты + рефералка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3035808"/>
            <a:ext cx="182880" cy="0"/>
          </a:xfrm>
          <a:prstGeom prst="line">
            <a:avLst/>
          </a:prstGeom>
          <a:noFill/>
          <a:ln w="19050">
            <a:solidFill>
              <a:srgbClr val="8B1A1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03320" y="3474720"/>
            <a:ext cx="0" cy="182880"/>
          </a:xfrm>
          <a:prstGeom prst="line">
            <a:avLst/>
          </a:prstGeom>
          <a:noFill/>
          <a:ln w="19050">
            <a:solidFill>
              <a:srgbClr val="8B1A1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743200" y="4069080"/>
            <a:ext cx="0" cy="0"/>
          </a:xfrm>
          <a:prstGeom prst="line">
            <a:avLst/>
          </a:prstGeom>
          <a:noFill/>
          <a:ln w="19050">
            <a:solidFill>
              <a:srgbClr val="8B1A1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600200" y="3657600"/>
            <a:ext cx="0" cy="0"/>
          </a:xfrm>
          <a:prstGeom prst="line">
            <a:avLst/>
          </a:prstGeom>
          <a:noFill/>
          <a:ln w="19050">
            <a:solidFill>
              <a:srgbClr val="8B1A1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937760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КАНАЛА ПРИВЛЕЧЕНИЯ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697480"/>
            <a:ext cx="594360" cy="594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2816352"/>
            <a:ext cx="365760" cy="3657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715000" y="269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Telegram-посевы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715000" y="2971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каналов по настолкам в МСК/СПб · CAC ≈ 600 ₽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937760" y="3410712"/>
            <a:ext cx="594360" cy="594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529584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715000" y="34107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Антикафе (B2B)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5715000" y="36850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Холодные продажи в 12 локациях · CAC ≈ 2 900 ₽, LTV/CAC ≈ 21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937760" y="4123944"/>
            <a:ext cx="594360" cy="594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4242816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715000" y="41239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Реферальный механизм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5715000" y="439826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«Пригласи 3 друзей → месяц Pro» · CAC ≈ 0 ₽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в Pro ≥ 30% после 2-й партии (soft-offer на пилоте: 34%); B2B-pilot → paid ≥ 50%.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GameMaster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Пилот апрель 2026: продукт работает, спрос есть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965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196596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пилотных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1965960"/>
            <a:ext cx="1965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965960"/>
            <a:ext cx="196596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9748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сессий доведены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финала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1965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965960"/>
            <a:ext cx="196596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7,8/10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0060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голоса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ведущего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965960"/>
            <a:ext cx="1965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965960"/>
            <a:ext cx="196596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90372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ответили «заплатил бы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₽ за следующую»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2697480" cy="868680"/>
          </a:xfrm>
          <a:prstGeom prst="rect">
            <a:avLst/>
          </a:prstGeom>
          <a:solidFill>
            <a:srgbClr val="EFEAD9"/>
          </a:solidFill>
          <a:ln w="12700">
            <a:solidFill>
              <a:srgbClr val="EFEA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947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1732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CustDev-интервью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хостами компаний 18–35 в МСК и СПб (апрель 2026)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3703320"/>
            <a:ext cx="2697480" cy="868680"/>
          </a:xfrm>
          <a:prstGeom prst="rect">
            <a:avLst/>
          </a:prstGeom>
          <a:solidFill>
            <a:srgbClr val="EFEAD9"/>
          </a:solidFill>
          <a:ln w="12700">
            <a:solidFill>
              <a:srgbClr val="EFEA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7947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20624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 от антикафе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пилот в МСК и СПб — Циферблат, Мысли вслух, Бабочка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3703320"/>
            <a:ext cx="2697480" cy="868680"/>
          </a:xfrm>
          <a:prstGeom prst="rect">
            <a:avLst/>
          </a:prstGeom>
          <a:solidFill>
            <a:srgbClr val="EFEAD9"/>
          </a:solidFill>
          <a:ln w="12700">
            <a:solidFill>
              <a:srgbClr val="EFEA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7947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9516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«Сыграть снова»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9516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финале партии в течение 1 часа (M1-retention сигнал)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внутренний тест-протокол (10 респондентов, 24 сессии, 4 партии); опрос организаторов и B2B-leads.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GameMaster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 1,1 млн ₽ через 12 мес. → 4,2 млн ₽ через 24 мес.</a:t>
            </a:r>
            <a:endParaRPr lang="en-US" sz="2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965960"/>
          <a:ext cx="51206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2350008"/>
            <a:ext cx="2926080" cy="0"/>
          </a:xfrm>
          <a:prstGeom prst="line">
            <a:avLst/>
          </a:prstGeom>
          <a:noFill/>
          <a:ln w="6350">
            <a:solidFill>
              <a:srgbClr val="D7CF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965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на 12-й мес. (base)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60720" y="2130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 млн ₽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760720" y="2770632"/>
            <a:ext cx="2926080" cy="0"/>
          </a:xfrm>
          <a:prstGeom prst="line">
            <a:avLst/>
          </a:prstGeom>
          <a:noFill/>
          <a:ln w="6350">
            <a:solidFill>
              <a:srgbClr val="D7CF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23865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на 24-й мес. (base)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60720" y="25511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4,2 млн ₽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760720" y="3191256"/>
            <a:ext cx="2926080" cy="0"/>
          </a:xfrm>
          <a:prstGeom prst="line">
            <a:avLst/>
          </a:prstGeom>
          <a:noFill/>
          <a:ln w="6350">
            <a:solidFill>
              <a:srgbClr val="D7CF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8072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Кумул. burn за 24 мес.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607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 млн ₽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760720" y="3611880"/>
            <a:ext cx="2926080" cy="0"/>
          </a:xfrm>
          <a:prstGeom prst="line">
            <a:avLst/>
          </a:prstGeom>
          <a:noFill/>
          <a:ln w="6350">
            <a:solidFill>
              <a:srgbClr val="D7CFB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32278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безубыточности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60720" y="33924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Мес. 28–32 (base)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760720" y="4032504"/>
            <a:ext cx="2926080" cy="0"/>
          </a:xfrm>
          <a:prstGeom prst="line">
            <a:avLst/>
          </a:prstGeom>
          <a:noFill/>
          <a:ln w="6350">
            <a:solidFill>
              <a:srgbClr val="D7CFB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36484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(blended)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760720" y="3813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98,8%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760720" y="4453128"/>
            <a:ext cx="2926080" cy="0"/>
          </a:xfrm>
          <a:prstGeom prst="line">
            <a:avLst/>
          </a:prstGeom>
          <a:noFill/>
          <a:ln w="6350">
            <a:solidFill>
              <a:srgbClr val="D7CFB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40690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Growth (target)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60720" y="42336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15%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Допущения: CR в Pro 30% (base), churn 5%/мес, B2B pilot→paid 50%; чувствительность по 3 параметрам.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GameMaster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ключевые компетенции + ментор индустрии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269748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194560"/>
            <a:ext cx="868680" cy="8686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3774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PM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года в продуктовой разработке (B2C SaaS); ведущий мафии в студенческом клубе с 2022 г.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46120" y="192024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1920240"/>
            <a:ext cx="269748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0520" y="2194560"/>
            <a:ext cx="868680" cy="8686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37744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2900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ENGINEER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42900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Co-founder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47472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FastAPI + React + WebSocket; 5+ продакшн-проектов реалтайм-приложений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35040" y="192024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FB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35040" y="1920240"/>
            <a:ext cx="269748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49440" y="2194560"/>
            <a:ext cx="868680" cy="8686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37744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1792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 / AUDIO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21792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Co-founder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26364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Организовал &gt; 100 мафия-вечеров; запись и продакшн озвучки (350+ mp3 в библиотеке)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141220"/>
          </a:solidFill>
          <a:ln w="12700">
            <a:solidFill>
              <a:srgbClr val="14122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МЕНТОР ИНДУСТРИИ:  </a:t>
            </a: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продуктовый эксперт с опытом B2C-SaaS на масштабирующейся стадии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GameMaster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млн ₽</a:t>
            </a:r>
            <a:r>
              <a:rPr lang="en-US" sz="3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seed на 18 месяцев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16 млн ₽ · Post-money 22 млн ₽ · Доля инвестора ≈ 27%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88336"/>
            <a:ext cx="502920" cy="2011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883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и привлечение B2C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86200" y="2651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 млн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502920" cy="2011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80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944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B2B-команда (продажи в антикафе)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29443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млн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73552"/>
            <a:ext cx="502920" cy="2011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735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3236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roadmap-фич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86200" y="32369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 млн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502920" cy="2011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66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3529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Аудиопродакшн (расширение библиотеки)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86200" y="35295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 млн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58768"/>
            <a:ext cx="502920" cy="2011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587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3822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+ операционные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86200" y="3822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0,54 млн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51376"/>
            <a:ext cx="502920" cy="2011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51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" y="4114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/ контрцикл. буфер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86200" y="4114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0,36 млн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(18 МЕС.)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2688336"/>
            <a:ext cx="411480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6883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40680" y="2651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1-й платный B2B-контракт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2980944"/>
            <a:ext cx="411480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9809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40680" y="2944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2944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k-фактор виральности ≥ 0,3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37760" y="3273552"/>
            <a:ext cx="411480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2735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40680" y="3236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9360" y="32369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платящих Pro · MRR ≥ 9,9 тыс. ₽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37760" y="3566160"/>
            <a:ext cx="411480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35661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40680" y="3529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09360" y="3529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действующих B2B-контрактов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937760" y="3858768"/>
            <a:ext cx="411480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38587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40680" y="3822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12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0936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≥ 1 млн ₽ · MoM ≥ 15%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937760" y="4151376"/>
            <a:ext cx="411480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4151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40680" y="4114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C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15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0936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D&amp;D-режим запущен (новый сегмент)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4434840"/>
            <a:ext cx="8229600" cy="0"/>
          </a:xfrm>
          <a:prstGeom prst="line">
            <a:avLst/>
          </a:prstGeom>
          <a:noFill/>
          <a:ln w="6350">
            <a:solidFill>
              <a:srgbClr val="8A8A9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6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Запустим демо-партию с вами прямо сейчас.   ·   aigamemaster.ru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1313</Words>
  <Application>Microsoft Macintosh PowerPoint</Application>
  <PresentationFormat>Экран (16:9)</PresentationFormat>
  <Paragraphs>276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AI GameMaster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GameMaster — Seed Pitch Deck</dc:title>
  <dc:subject>PptxGenJS Presentation</dc:subject>
  <dc:creator>AI GameMaster</dc:creator>
  <cp:lastModifiedBy>Nikita</cp:lastModifiedBy>
  <cp:revision>1</cp:revision>
  <dcterms:created xsi:type="dcterms:W3CDTF">2026-05-06T11:33:48Z</dcterms:created>
  <dcterms:modified xsi:type="dcterms:W3CDTF">2026-05-06T11:36:04Z</dcterms:modified>
</cp:coreProperties>
</file>