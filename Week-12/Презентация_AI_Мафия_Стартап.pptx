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36576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2743200" cy="438912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8463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СТАРТАП-ПРОЕКТ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AI-Ведущий Мафии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762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0D4AA"/>
                </a:solidFill>
              </a:rPr>
              <a:t>Стратегия роста · Финансовый план · Оценка компании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99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Практическое занятие №24  |  Дисциплина: Стартап в ИТ  |  2025–2026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3794760"/>
            <a:ext cx="4023360" cy="265176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О ПРОЕКТЕ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279392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Голосовой ИИ-ведущий, 5–20 человек
Роли: Мафия, Мирные, Доктор, Шериф,
        Дон, Проститутка
Вход по коду комнаты
5 игр бесплатно → 99 ₽/мес.
Любой частный пользователь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3657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Ядро роста и стратегические цели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Драйвер: Product-Led Growth + Вирусная петля | 5 игр бесплатно → 99 ₽/мес.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828800"/>
          </a:xfrm>
          <a:prstGeom prst="rect">
            <a:avLst/>
          </a:prstGeom>
          <a:solidFill>
            <a:srgbClr val="102238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ПЕТЛЯ РОСТА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2286000" cy="868680"/>
          </a:xfrm>
          <a:prstGeom prst="rect">
            <a:avLst/>
          </a:prstGeom>
          <a:solidFill>
            <a:srgbClr val="1E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447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4C60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481328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Хост создаёт
комнату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B4C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417320"/>
            <a:ext cx="2286000" cy="868680"/>
          </a:xfrm>
          <a:prstGeom prst="rect">
            <a:avLst/>
          </a:prstGeom>
          <a:solidFill>
            <a:srgbClr val="1E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4447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A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481328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Приглашает
5–19 друзей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B4C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1417320"/>
            <a:ext cx="2286000" cy="868680"/>
          </a:xfrm>
          <a:prstGeom prst="rect">
            <a:avLst/>
          </a:prstGeom>
          <a:solidFill>
            <a:srgbClr val="1E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19" y="14447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7" y="1481328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Участники
устанавливают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7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B4C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3999" y="1417320"/>
            <a:ext cx="2286000" cy="868680"/>
          </a:xfrm>
          <a:prstGeom prst="rect">
            <a:avLst/>
          </a:prstGeom>
          <a:solidFill>
            <a:srgbClr val="1E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39" y="14447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4C60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7" y="1481328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После 5 игр →
99 ₽/мес.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07792"/>
            <a:ext cx="3474720" cy="329184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95351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Метрика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7639" y="2907792"/>
            <a:ext cx="3703320" cy="329184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0791" y="2953512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месяца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2907792"/>
            <a:ext cx="3703320" cy="32918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2953512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12 месяцев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36976"/>
            <a:ext cx="3474720" cy="329184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27355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3236976"/>
            <a:ext cx="3703320" cy="329184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50791" y="3273552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1 800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3236976"/>
            <a:ext cx="3703320" cy="329184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9831" y="3273552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33 000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566160"/>
            <a:ext cx="3474720" cy="329184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60273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Платящие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7639" y="3566160"/>
            <a:ext cx="3703320" cy="329184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50791" y="3602736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72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26679" y="3566160"/>
            <a:ext cx="3703320" cy="329184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9831" y="3602736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1 320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895344"/>
            <a:ext cx="3474720" cy="329184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393192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MRR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7639" y="3895344"/>
            <a:ext cx="3703320" cy="329184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50791" y="3931920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7 128 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26679" y="3895344"/>
            <a:ext cx="3703320" cy="329184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99831" y="3931920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130 680 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224528"/>
            <a:ext cx="3474720" cy="329184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4261104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7639" y="4224528"/>
            <a:ext cx="3703320" cy="329184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50791" y="4261104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26679" y="4224528"/>
            <a:ext cx="3703320" cy="329184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99831" y="4261104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1 568 160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553712"/>
            <a:ext cx="3474720" cy="329184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" y="4590288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Конв. free→paid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77639" y="4553712"/>
            <a:ext cx="3703320" cy="329184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50791" y="4590288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26679" y="4553712"/>
            <a:ext cx="3703320" cy="329184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99831" y="4590288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882896"/>
            <a:ext cx="3474720" cy="329184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" y="491947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Retention M1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77639" y="4882896"/>
            <a:ext cx="3703320" cy="329184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50791" y="4919472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26679" y="4882896"/>
            <a:ext cx="3703320" cy="329184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99831" y="4919472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45%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3657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Горизонт 1 — 0–3 месяца: Запуск и первые платящие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5 игр бесплатно → paywall 99 ₽/мес. | Первые 72 платящих пользователя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0789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Гипотеза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0789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Действие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78992"/>
            <a:ext cx="3081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Метрика успеха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0888" y="10789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Риск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435608"/>
            <a:ext cx="2240280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08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1508760"/>
            <a:ext cx="1764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Пользователи
делятся invite-ссылкой
после создания комнаты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435608"/>
            <a:ext cx="3429000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50876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Deep-link «Пригласить
друга» + бонус
+1 бесплатная игра за приглашение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35608"/>
            <a:ext cx="3081528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508760"/>
            <a:ext cx="289864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≥ 2,5 приглаш.
на хоста к М2
Share rate ≥ 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45168" y="1435608"/>
            <a:ext cx="2377440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15087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Низкий share rate
→ усилить
мотивацию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2916936"/>
            <a:ext cx="2240280" cy="1417320"/>
          </a:xfrm>
          <a:prstGeom prst="rect">
            <a:avLst/>
          </a:prstGeom>
          <a:solidFill>
            <a:srgbClr val="11223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90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2990088"/>
            <a:ext cx="1764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После 5 бесплатных
игр пользователь
оформляет подписку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916936"/>
            <a:ext cx="3429000" cy="1417320"/>
          </a:xfrm>
          <a:prstGeom prst="rect">
            <a:avLst/>
          </a:prstGeom>
          <a:solidFill>
            <a:srgbClr val="11223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99008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Яркий paywall:
«99 ₽/мес. — все роли,
настройка ведущего»;
счётчик игр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916936"/>
            <a:ext cx="3081528" cy="1417320"/>
          </a:xfrm>
          <a:prstGeom prst="rect">
            <a:avLst/>
          </a:prstGeom>
          <a:solidFill>
            <a:srgbClr val="11223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2990088"/>
            <a:ext cx="289864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CR free→paid
≥ 4% к М4
ARPU = 99 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45168" y="2916936"/>
            <a:ext cx="2377440" cy="1417320"/>
          </a:xfrm>
          <a:prstGeom prst="rect">
            <a:avLst/>
          </a:prstGeom>
          <a:solidFill>
            <a:srgbClr val="11223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6608" y="2990088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Реустановка обходит
лимит → привязка
к аккаунту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4398264"/>
            <a:ext cx="2240280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714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4C60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4471416"/>
            <a:ext cx="1764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Контент TikTok/ВК
генерирует
органические установки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398264"/>
            <a:ext cx="3429000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4471416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 коротких видео
«Смешные моменты
с ИИ-ведущим»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398264"/>
            <a:ext cx="3081528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4471416"/>
            <a:ext cx="289864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≥ 2 000 просм.
≥ 150 установок
из контента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45168" y="4398264"/>
            <a:ext cx="2377440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36608" y="4471416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Виральность
непредсказуема;
нужен бюджет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3657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Горизонт 2 — 3–12 месяцев: Масштабирование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Реферальная программа, DLC-сценарии, сезонный спрос | Цель: MRR 130K 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solidFill>
            <a:srgbClr val="009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0789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Гипотеза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0789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Действие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78992"/>
            <a:ext cx="3081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Метрика успеха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0888" y="10789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Риск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435608"/>
            <a:ext cx="2240280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08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1508760"/>
            <a:ext cx="1764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Реферальная
программа ускоряет
органический рост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435608"/>
            <a:ext cx="3429000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50876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«Пригласи нового хоста
→ оба получают
1 мес. бесплатно»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35608"/>
            <a:ext cx="3081528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508760"/>
            <a:ext cx="289864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k-фактор ≥ 0,3
к М6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45168" y="1435608"/>
            <a:ext cx="2377440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15087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Злоупотребления
→ верификация
аккаунта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2916936"/>
            <a:ext cx="2240280" cy="1417320"/>
          </a:xfrm>
          <a:prstGeom prst="rect">
            <a:avLst/>
          </a:prstGeom>
          <a:solidFill>
            <a:srgbClr val="11223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90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2990088"/>
            <a:ext cx="1764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DLC-сценарии
снижают churn
и растят ARPU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916936"/>
            <a:ext cx="3429000" cy="1417320"/>
          </a:xfrm>
          <a:prstGeom prst="rect">
            <a:avLst/>
          </a:prstGeom>
          <a:solidFill>
            <a:srgbClr val="11223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99008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Платные паки:
«Детектив-80-е»,
«Зомби», 49–99 ₽
за разовую покупку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916936"/>
            <a:ext cx="3081528" cy="1417320"/>
          </a:xfrm>
          <a:prstGeom prst="rect">
            <a:avLst/>
          </a:prstGeom>
          <a:solidFill>
            <a:srgbClr val="11223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2990088"/>
            <a:ext cx="289864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Churn 10%→7%
+15% к среднему
чеку к М9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45168" y="2916936"/>
            <a:ext cx="2377440" cy="1417320"/>
          </a:xfrm>
          <a:prstGeom prst="rect">
            <a:avLst/>
          </a:prstGeom>
          <a:solidFill>
            <a:srgbClr val="11223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6608" y="2990088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Сложность разработки
новых сценариев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4398264"/>
            <a:ext cx="2240280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714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4C60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4471416"/>
            <a:ext cx="1764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Сезонный пик (НГ,
корпоративы)
даёт +MRR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398264"/>
            <a:ext cx="3429000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4471416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Сценарии
«НГ-Мафия»,
promо ноябрь–декабрь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398264"/>
            <a:ext cx="3081528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4471416"/>
            <a:ext cx="289864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+35% к MRR
декабрь vs. ноябрь
(М12)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45168" y="4398264"/>
            <a:ext cx="2377440" cy="141732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36608" y="4471416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Сезонная зависимость;
нужен резерв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3657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Финансовый план — Базовый сценарий (Год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MRR растёт с 1 188 ₽ (М1) до 130 680 ₽ (М12) | ARPU 99 ₽ | Conv. 4% | Churn 10%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498079" cy="3794760"/>
          </a:xfrm>
          <a:prstGeom prst="rect">
            <a:avLst/>
          </a:prstGeom>
          <a:solidFill>
            <a:srgbClr val="0A1828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MRR и Затраты (тыс. ₽)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23126"/>
            <a:ext cx="7315199" cy="9144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" y="438596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B4C8"/>
                </a:solidFill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1333"/>
            <a:ext cx="7315199" cy="9144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" y="3834173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B4C8"/>
                </a:solidFill>
              </a:rPr>
              <a:t>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19540"/>
            <a:ext cx="7315199" cy="9144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" y="32823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B4C8"/>
                </a:solidFill>
              </a:rPr>
              <a:t>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67747"/>
            <a:ext cx="7315199" cy="9144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" y="2730587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B4C8"/>
                </a:solidFill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05595"/>
            <a:ext cx="7315199" cy="9144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" y="2068435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B4C8"/>
                </a:solidFill>
              </a:rPr>
              <a:t>130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48433"/>
            <a:ext cx="262432" cy="2648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4700961"/>
            <a:ext cx="35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7648" y="2426313"/>
            <a:ext cx="183702" cy="2648606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" y="5102352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М1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1768" y="5004290"/>
            <a:ext cx="262432" cy="70629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6047" y="4656818"/>
            <a:ext cx="35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72488" y="2426313"/>
            <a:ext cx="183702" cy="2648606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6047" y="5102352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М2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16607" y="4918210"/>
            <a:ext cx="262432" cy="156709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70887" y="4570738"/>
            <a:ext cx="35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7328" y="2426313"/>
            <a:ext cx="183702" cy="2648606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70887" y="5102352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М3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41448" y="4768123"/>
            <a:ext cx="262432" cy="3067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95728" y="4420651"/>
            <a:ext cx="35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22168" y="2426313"/>
            <a:ext cx="183702" cy="2648606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95728" y="5102352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М4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6287" y="4549612"/>
            <a:ext cx="262432" cy="525307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20568" y="4202140"/>
            <a:ext cx="35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47008" y="2426313"/>
            <a:ext cx="183702" cy="2648606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20568" y="5102352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М5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91127" y="4245023"/>
            <a:ext cx="262432" cy="8298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45407" y="3897551"/>
            <a:ext cx="35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848" y="2426313"/>
            <a:ext cx="183702" cy="2648606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45407" y="5102352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М6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15968" y="3938226"/>
            <a:ext cx="262432" cy="1136693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0248" y="3590754"/>
            <a:ext cx="35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51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96688" y="1322726"/>
            <a:ext cx="183702" cy="3752193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70248" y="5102352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М7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40807" y="3589492"/>
            <a:ext cx="262432" cy="1485427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95087" y="3242020"/>
            <a:ext cx="35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67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21528" y="1322726"/>
            <a:ext cx="183702" cy="3752193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95087" y="5102352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М8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65647" y="3238552"/>
            <a:ext cx="262432" cy="1836367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9928" y="2891080"/>
            <a:ext cx="35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83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6368" y="1322726"/>
            <a:ext cx="183702" cy="3752193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19928" y="5102352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М9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90488" y="2889819"/>
            <a:ext cx="262432" cy="218510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44768" y="2542347"/>
            <a:ext cx="35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99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71208" y="1322726"/>
            <a:ext cx="183702" cy="3752193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44768" y="5102352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М10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15327" y="2541086"/>
            <a:ext cx="262432" cy="2533833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9607" y="2193614"/>
            <a:ext cx="35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114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96048" y="1322726"/>
            <a:ext cx="183702" cy="3752193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69607" y="5102352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М11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40167" y="2190145"/>
            <a:ext cx="262432" cy="2884774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94447" y="1842673"/>
            <a:ext cx="35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130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20888" y="1322726"/>
            <a:ext cx="183702" cy="3752193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94447" y="5102352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М12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074920"/>
            <a:ext cx="7315199" cy="18288"/>
          </a:xfrm>
          <a:prstGeom prst="rect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4360" y="1417320"/>
            <a:ext cx="201168" cy="2011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1248" y="13898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MRR М1–6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40" y="1417320"/>
            <a:ext cx="201168" cy="201168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52928" y="13898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MRR М7–12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17720" y="1417320"/>
            <a:ext cx="201168" cy="201168"/>
          </a:xfrm>
          <a:prstGeom prst="rect">
            <a:avLst/>
          </a:prstGeom>
          <a:solidFill>
            <a:srgbClr val="6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64608" y="13898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Затраты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75320" y="1024128"/>
            <a:ext cx="3749039" cy="1078992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75320" y="116128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130 680 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20" y="16642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MRR к М12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75320" y="2185416"/>
            <a:ext cx="3749039" cy="1078992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75320" y="2322576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4C60"/>
                </a:solidFill>
              </a:rPr>
              <a:t>1 568 160 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5320" y="28254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ARR к М12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75320" y="3346704"/>
            <a:ext cx="3749039" cy="1078992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75320" y="348386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1 320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75320" y="39867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Платящих М12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75320" y="4507992"/>
            <a:ext cx="3749039" cy="1078992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75320" y="464515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4C60"/>
                </a:solidFill>
              </a:rPr>
              <a:t>М21–22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75320" y="51480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Break-even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75320" y="5669280"/>
            <a:ext cx="3749039" cy="1078992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75320" y="58064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1,5M ₽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75320" y="63093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Инвестиции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3657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Три сценария: Conservative / Base / Optimistic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ARPU фиксирован: 99 ₽/мес. | Различия: конверсия, churn, темп роста MAU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3017520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06424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Показатель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051560"/>
            <a:ext cx="2834640" cy="3657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10642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Консервативный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51560"/>
            <a:ext cx="2834640" cy="36576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10642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Базовый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1051560"/>
            <a:ext cx="2834640" cy="365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2" y="110642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Оптимистичный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17319"/>
            <a:ext cx="3017520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463039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Конв. free→paid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1417319"/>
            <a:ext cx="2834640" cy="365760"/>
          </a:xfrm>
          <a:prstGeom prst="rect">
            <a:avLst/>
          </a:prstGeom>
          <a:solidFill>
            <a:srgbClr val="3A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146303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4C60"/>
                </a:solidFill>
              </a:rPr>
              <a:t>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17319"/>
            <a:ext cx="2834640" cy="365760"/>
          </a:xfrm>
          <a:prstGeom prst="rect">
            <a:avLst/>
          </a:prstGeom>
          <a:solidFill>
            <a:srgbClr val="0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46303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C0FF"/>
                </a:solidFill>
              </a:rPr>
              <a:t>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1417319"/>
            <a:ext cx="2834640" cy="365760"/>
          </a:xfrm>
          <a:prstGeom prst="rect">
            <a:avLst/>
          </a:prstGeom>
          <a:solidFill>
            <a:srgbClr val="0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146303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783079"/>
            <a:ext cx="3017520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1828799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Churn monthly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1783079"/>
            <a:ext cx="2834640" cy="365760"/>
          </a:xfrm>
          <a:prstGeom prst="rect">
            <a:avLst/>
          </a:prstGeom>
          <a:solidFill>
            <a:srgbClr val="3A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182879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4C60"/>
                </a:solidFill>
              </a:rPr>
              <a:t>15%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783079"/>
            <a:ext cx="2834640" cy="365760"/>
          </a:xfrm>
          <a:prstGeom prst="rect">
            <a:avLst/>
          </a:prstGeom>
          <a:solidFill>
            <a:srgbClr val="0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182879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C0FF"/>
                </a:solidFill>
              </a:rPr>
              <a:t>10%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1783079"/>
            <a:ext cx="2834640" cy="365760"/>
          </a:xfrm>
          <a:prstGeom prst="rect">
            <a:avLst/>
          </a:prstGeom>
          <a:solidFill>
            <a:srgbClr val="0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54312" y="182879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148839"/>
            <a:ext cx="3017520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194559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ARPU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2148839"/>
            <a:ext cx="2834640" cy="365760"/>
          </a:xfrm>
          <a:prstGeom prst="rect">
            <a:avLst/>
          </a:prstGeom>
          <a:solidFill>
            <a:srgbClr val="3A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219455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4C60"/>
                </a:solidFill>
              </a:rPr>
              <a:t>99 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148839"/>
            <a:ext cx="2834640" cy="365760"/>
          </a:xfrm>
          <a:prstGeom prst="rect">
            <a:avLst/>
          </a:prstGeom>
          <a:solidFill>
            <a:srgbClr val="0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219455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C0FF"/>
                </a:solidFill>
              </a:rPr>
              <a:t>99 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81160" y="2148839"/>
            <a:ext cx="2834640" cy="365760"/>
          </a:xfrm>
          <a:prstGeom prst="rect">
            <a:avLst/>
          </a:prstGeom>
          <a:solidFill>
            <a:srgbClr val="0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219455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99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514600"/>
            <a:ext cx="3017520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2560320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MAU к М12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2514600"/>
            <a:ext cx="2834640" cy="365760"/>
          </a:xfrm>
          <a:prstGeom prst="rect">
            <a:avLst/>
          </a:prstGeom>
          <a:solidFill>
            <a:srgbClr val="3A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93592" y="2560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4C60"/>
                </a:solidFill>
              </a:rPr>
              <a:t>33 000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514600"/>
            <a:ext cx="2834640" cy="365760"/>
          </a:xfrm>
          <a:prstGeom prst="rect">
            <a:avLst/>
          </a:prstGeom>
          <a:solidFill>
            <a:srgbClr val="0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2560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C0FF"/>
                </a:solidFill>
              </a:rPr>
              <a:t>33 000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1160" y="2514600"/>
            <a:ext cx="2834640" cy="365760"/>
          </a:xfrm>
          <a:prstGeom prst="rect">
            <a:avLst/>
          </a:prstGeom>
          <a:solidFill>
            <a:srgbClr val="0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54312" y="2560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50 000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880360"/>
            <a:ext cx="3017520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2926079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Платящие к М12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2880360"/>
            <a:ext cx="2834640" cy="365760"/>
          </a:xfrm>
          <a:prstGeom prst="rect">
            <a:avLst/>
          </a:prstGeom>
          <a:solidFill>
            <a:srgbClr val="3A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93592" y="292607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4C60"/>
                </a:solidFill>
              </a:rPr>
              <a:t>660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880360"/>
            <a:ext cx="2834640" cy="365760"/>
          </a:xfrm>
          <a:prstGeom prst="rect">
            <a:avLst/>
          </a:prstGeom>
          <a:solidFill>
            <a:srgbClr val="0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3952" y="292607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C0FF"/>
                </a:solidFill>
              </a:rPr>
              <a:t>1 320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81160" y="2880360"/>
            <a:ext cx="2834640" cy="365760"/>
          </a:xfrm>
          <a:prstGeom prst="rect">
            <a:avLst/>
          </a:prstGeom>
          <a:solidFill>
            <a:srgbClr val="0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54312" y="292607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3 500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246120"/>
            <a:ext cx="3017520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3291839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MRR к М12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20440" y="3246120"/>
            <a:ext cx="2834640" cy="365760"/>
          </a:xfrm>
          <a:prstGeom prst="rect">
            <a:avLst/>
          </a:prstGeom>
          <a:solidFill>
            <a:srgbClr val="3A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93592" y="329183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4C60"/>
                </a:solidFill>
              </a:rPr>
              <a:t>65 340 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246120"/>
            <a:ext cx="2834640" cy="365760"/>
          </a:xfrm>
          <a:prstGeom prst="rect">
            <a:avLst/>
          </a:prstGeom>
          <a:solidFill>
            <a:srgbClr val="0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73952" y="329183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C0FF"/>
                </a:solidFill>
              </a:rPr>
              <a:t>130 680 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81160" y="3246120"/>
            <a:ext cx="2834640" cy="365760"/>
          </a:xfrm>
          <a:prstGeom prst="rect">
            <a:avLst/>
          </a:prstGeom>
          <a:solidFill>
            <a:srgbClr val="0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54312" y="329183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346 500 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611880"/>
            <a:ext cx="3017520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3657600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ARR Год 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20440" y="3611880"/>
            <a:ext cx="2834640" cy="365760"/>
          </a:xfrm>
          <a:prstGeom prst="rect">
            <a:avLst/>
          </a:prstGeom>
          <a:solidFill>
            <a:srgbClr val="3A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93592" y="36576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4C60"/>
                </a:solidFill>
              </a:rPr>
              <a:t>~320 000 ₽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611880"/>
            <a:ext cx="2834640" cy="365760"/>
          </a:xfrm>
          <a:prstGeom prst="rect">
            <a:avLst/>
          </a:prstGeom>
          <a:solidFill>
            <a:srgbClr val="0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73952" y="36576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C0FF"/>
                </a:solidFill>
              </a:rPr>
              <a:t>~633 000 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81160" y="3611880"/>
            <a:ext cx="2834640" cy="365760"/>
          </a:xfrm>
          <a:prstGeom prst="rect">
            <a:avLst/>
          </a:prstGeom>
          <a:solidFill>
            <a:srgbClr val="0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54312" y="36576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~1 700 000 ₽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3977639"/>
            <a:ext cx="3017520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4023359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ARR Год 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20440" y="3977639"/>
            <a:ext cx="2834640" cy="365760"/>
          </a:xfrm>
          <a:prstGeom prst="rect">
            <a:avLst/>
          </a:prstGeom>
          <a:solidFill>
            <a:srgbClr val="3A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93592" y="402335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4C60"/>
                </a:solidFill>
              </a:rPr>
              <a:t>~800 000 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77639"/>
            <a:ext cx="2834640" cy="365760"/>
          </a:xfrm>
          <a:prstGeom prst="rect">
            <a:avLst/>
          </a:prstGeom>
          <a:solidFill>
            <a:srgbClr val="0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73952" y="402335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C0FF"/>
                </a:solidFill>
              </a:rPr>
              <a:t>~2 764 000 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81160" y="3977639"/>
            <a:ext cx="2834640" cy="365760"/>
          </a:xfrm>
          <a:prstGeom prst="rect">
            <a:avLst/>
          </a:prstGeom>
          <a:solidFill>
            <a:srgbClr val="0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54312" y="402335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~6 500 000 ₽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343400"/>
            <a:ext cx="3017520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0352" y="4389120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Break-even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20440" y="4343400"/>
            <a:ext cx="2834640" cy="365760"/>
          </a:xfrm>
          <a:prstGeom prst="rect">
            <a:avLst/>
          </a:prstGeom>
          <a:solidFill>
            <a:srgbClr val="3A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93592" y="4389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4C60"/>
                </a:solidFill>
              </a:rPr>
              <a:t>М24+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43400"/>
            <a:ext cx="2834640" cy="365760"/>
          </a:xfrm>
          <a:prstGeom prst="rect">
            <a:avLst/>
          </a:prstGeom>
          <a:solidFill>
            <a:srgbClr val="0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73952" y="4389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C0FF"/>
                </a:solidFill>
              </a:rPr>
              <a:t>М21–22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81160" y="4343400"/>
            <a:ext cx="2834640" cy="365760"/>
          </a:xfrm>
          <a:prstGeom prst="rect">
            <a:avLst/>
          </a:prstGeom>
          <a:solidFill>
            <a:srgbClr val="0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54312" y="4389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М15–16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709160"/>
            <a:ext cx="3017520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" y="4754880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Потреб. инвест.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520440" y="4709160"/>
            <a:ext cx="2834640" cy="365760"/>
          </a:xfrm>
          <a:prstGeom prst="rect">
            <a:avLst/>
          </a:prstGeom>
          <a:solidFill>
            <a:srgbClr val="3A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593592" y="4754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4C60"/>
                </a:solidFill>
              </a:rPr>
              <a:t>~2 200 000 ₽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09160"/>
            <a:ext cx="2834640" cy="365760"/>
          </a:xfrm>
          <a:prstGeom prst="rect">
            <a:avLst/>
          </a:prstGeom>
          <a:solidFill>
            <a:srgbClr val="0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73952" y="4754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C0FF"/>
                </a:solidFill>
              </a:rPr>
              <a:t>~1 500 000 ₽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281160" y="4709160"/>
            <a:ext cx="2834640" cy="365760"/>
          </a:xfrm>
          <a:prstGeom prst="rect">
            <a:avLst/>
          </a:prstGeom>
          <a:solidFill>
            <a:srgbClr val="0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354312" y="4754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~800 000 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3657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Анализ чувствительности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3 параметра, наиболее сильно влияющих на MRR и break-even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3547872" cy="384048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33649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1. Конверсия free→paid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35608"/>
            <a:ext cx="852678" cy="256032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8526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C8"/>
                </a:solidFill>
              </a:rPr>
              <a:t>Конв.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55598" y="1435608"/>
            <a:ext cx="852678" cy="256032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5598" y="1463040"/>
            <a:ext cx="8526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C8"/>
                </a:solidFill>
              </a:rPr>
              <a:t>Плат. М12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8276" y="1435608"/>
            <a:ext cx="852678" cy="256032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8276" y="1463040"/>
            <a:ext cx="8526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C8"/>
                </a:solidFill>
              </a:rPr>
              <a:t>MRR М12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0954" y="1435608"/>
            <a:ext cx="852678" cy="256032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0954" y="1463040"/>
            <a:ext cx="8526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C8"/>
                </a:solidFill>
              </a:rPr>
              <a:t>Break-even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691640"/>
            <a:ext cx="3456432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1737360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3886" y="1737360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6564" y="1737360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32 670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9242" y="1737360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М24+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075688"/>
            <a:ext cx="3456432" cy="365760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2121408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3886" y="2121408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6564" y="2121408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65 340 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9242" y="2121408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М24+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459736"/>
            <a:ext cx="3456432" cy="365760"/>
          </a:xfrm>
          <a:prstGeom prst="rect">
            <a:avLst/>
          </a:prstGeom>
          <a:solidFill>
            <a:srgbClr val="3A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2505456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4C60"/>
                </a:solidFill>
              </a:rPr>
              <a:t>4% 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3886" y="2505456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4C60"/>
                </a:solidFill>
              </a:rPr>
              <a:t>1 320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26564" y="2505456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4C60"/>
                </a:solidFill>
              </a:rPr>
              <a:t>130 680 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9242" y="2505456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4C60"/>
                </a:solidFill>
              </a:rPr>
              <a:t>М21–22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843784"/>
            <a:ext cx="3456432" cy="365760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" y="2889504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3886" y="2889504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2 310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26564" y="2889504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228 690 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79242" y="2889504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М15–16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227832"/>
            <a:ext cx="3456432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3273552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3886" y="3273552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3 300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26564" y="3273552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326 700 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79242" y="3273552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М12–13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544568"/>
            <a:ext cx="3547872" cy="868680"/>
          </a:xfrm>
          <a:prstGeom prst="rect">
            <a:avLst/>
          </a:prstGeom>
          <a:solidFill>
            <a:srgbClr val="0A1828"/>
          </a:solidFill>
          <a:ln w="15240">
            <a:solidFill>
              <a:srgbClr val="E8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590288"/>
            <a:ext cx="3346703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4C60"/>
                </a:solidFill>
              </a:rPr>
              <a:t>4%→7% = +75% MRR
Главный рычаг: paywall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1051560"/>
            <a:ext cx="3547872" cy="3840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79" y="1078992"/>
            <a:ext cx="33649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2. Monthly Churn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1435608"/>
            <a:ext cx="852678" cy="256032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59" y="1463040"/>
            <a:ext cx="8526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C8"/>
                </a:solidFill>
              </a:rPr>
              <a:t>Churn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04638" y="1435608"/>
            <a:ext cx="852678" cy="256032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04638" y="1463040"/>
            <a:ext cx="8526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C8"/>
                </a:solidFill>
              </a:rPr>
              <a:t>LTV,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57316" y="1435608"/>
            <a:ext cx="852678" cy="256032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57316" y="1463040"/>
            <a:ext cx="8526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C8"/>
                </a:solidFill>
              </a:rPr>
              <a:t>MRR М18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09994" y="1435608"/>
            <a:ext cx="852678" cy="256032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09994" y="1463040"/>
            <a:ext cx="8526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C8"/>
                </a:solidFill>
              </a:rPr>
              <a:t>Break-even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51959" y="1691640"/>
            <a:ext cx="3456432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70247" y="1737360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2925" y="1737360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1 188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75603" y="1737360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~320K 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8281" y="1737360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М16–17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59" y="2075688"/>
            <a:ext cx="3456432" cy="365760"/>
          </a:xfrm>
          <a:prstGeom prst="rect">
            <a:avLst/>
          </a:prstGeom>
          <a:solidFill>
            <a:srgbClr val="1E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70247" y="2121408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AA"/>
                </a:solidFill>
              </a:rPr>
              <a:t>10% 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2925" y="2121408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AA"/>
                </a:solidFill>
              </a:rPr>
              <a:t>713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5603" y="2121408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AA"/>
                </a:solidFill>
              </a:rPr>
              <a:t>~226K 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28281" y="2121408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AA"/>
                </a:solidFill>
              </a:rPr>
              <a:t>М21–22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59" y="2459736"/>
            <a:ext cx="3456432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70247" y="2505456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2925" y="2505456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475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75603" y="2505456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~140K 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28281" y="2505456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М24+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51959" y="2843784"/>
            <a:ext cx="3456432" cy="365760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70247" y="2889504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22925" y="2889504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356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75603" y="2889504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~95K 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28281" y="2889504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М24+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06240" y="4544568"/>
            <a:ext cx="3547872" cy="868680"/>
          </a:xfrm>
          <a:prstGeom prst="rect">
            <a:avLst/>
          </a:prstGeom>
          <a:solidFill>
            <a:srgbClr val="0A1828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15968" y="4590288"/>
            <a:ext cx="3346703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AA"/>
                </a:solidFill>
              </a:rPr>
              <a:t>10%→6% = +67% LTV
Retention = ценность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73568" y="1051560"/>
            <a:ext cx="3547872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65008" y="1078992"/>
            <a:ext cx="33649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3. MAU к М12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19288" y="1435608"/>
            <a:ext cx="852678" cy="256032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19288" y="1463040"/>
            <a:ext cx="8526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C8"/>
                </a:solidFill>
              </a:rPr>
              <a:t>MAU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71966" y="1435608"/>
            <a:ext cx="852678" cy="256032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71966" y="1463040"/>
            <a:ext cx="8526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C8"/>
                </a:solidFill>
              </a:rPr>
              <a:t>Плат. М12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724644" y="1435608"/>
            <a:ext cx="852678" cy="256032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24644" y="1463040"/>
            <a:ext cx="8526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C8"/>
                </a:solidFill>
              </a:rPr>
              <a:t>MRR М12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77322" y="1435608"/>
            <a:ext cx="852678" cy="256032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7322" y="1463040"/>
            <a:ext cx="8526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C8"/>
                </a:solidFill>
              </a:rPr>
              <a:t>Break-even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19288" y="1691640"/>
            <a:ext cx="3456432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37576" y="1737360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10 000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90254" y="1737360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42932" y="1737360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39 600 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95610" y="1737360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М24+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19288" y="2075688"/>
            <a:ext cx="3456432" cy="365760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37576" y="2121408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20 000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90254" y="2121408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42932" y="2121408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79 200 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95610" y="2121408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М23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019288" y="2459736"/>
            <a:ext cx="3456432" cy="365760"/>
          </a:xfrm>
          <a:prstGeom prst="rect">
            <a:avLst/>
          </a:prstGeom>
          <a:solidFill>
            <a:srgbClr val="3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037576" y="2505456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</a:rPr>
              <a:t>33 000 ●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90254" y="2505456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</a:rPr>
              <a:t>1 320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742932" y="2505456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</a:rPr>
              <a:t>130 680 ₽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95610" y="2505456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</a:rPr>
              <a:t>М21–22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9288" y="2843784"/>
            <a:ext cx="3456432" cy="365760"/>
          </a:xfrm>
          <a:prstGeom prst="rect">
            <a:avLst/>
          </a:prstGeom>
          <a:solidFill>
            <a:srgbClr val="11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037576" y="2889504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50 000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890254" y="2889504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2 000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42932" y="2889504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198 000 ₽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95610" y="2889504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М18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019288" y="3227832"/>
            <a:ext cx="3456432" cy="36576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037576" y="3273552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80 000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90254" y="3273552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3 200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742932" y="3273552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316 800 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595610" y="3273552"/>
            <a:ext cx="8161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М14–15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973568" y="4544568"/>
            <a:ext cx="3547872" cy="868680"/>
          </a:xfrm>
          <a:prstGeom prst="rect">
            <a:avLst/>
          </a:prstGeom>
          <a:solidFill>
            <a:srgbClr val="0A1828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083296" y="4590288"/>
            <a:ext cx="3346703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700"/>
                </a:solidFill>
              </a:rPr>
              <a:t>2x MAU = break-even
 на 4–7 мес. раньше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3657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Базовый сценарий, М12 | ARPU 99 ₽ | Conv 4% | Churn 10%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3611880" cy="169164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4C60"/>
                </a:solidFill>
              </a:rPr>
              <a:t>150 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4C8"/>
                </a:solidFill>
              </a:rPr>
              <a:t>CAC смешанный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1097280"/>
            <a:ext cx="3611880" cy="169164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298448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AA"/>
                </a:solidFill>
              </a:rPr>
              <a:t>99 ₽/мес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965960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4C8"/>
                </a:solidFill>
              </a:rPr>
              <a:t>ARPU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0456" y="1097280"/>
            <a:ext cx="3611880" cy="169164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298448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700"/>
                </a:solidFill>
              </a:rPr>
              <a:t>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965960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4C8"/>
                </a:solidFill>
              </a:rPr>
              <a:t>Gross Margin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3611880" cy="169164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72968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AA"/>
                </a:solidFill>
              </a:rPr>
              <a:t>713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40480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4C8"/>
                </a:solidFill>
              </a:rPr>
              <a:t>LTV (churn 10%)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2971800"/>
            <a:ext cx="3611880" cy="169164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3172968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0FF80"/>
                </a:solidFill>
              </a:rPr>
              <a:t>4,75x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840480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4C8"/>
                </a:solidFill>
              </a:rPr>
              <a:t>LTV/CAC (&gt;3x ✓)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0456" y="2971800"/>
            <a:ext cx="3611880" cy="169164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3172968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4C60"/>
                </a:solidFill>
              </a:rPr>
              <a:t>2,1 мес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3840480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4C8"/>
                </a:solidFill>
              </a:rPr>
              <a:t>Payback Period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983480"/>
            <a:ext cx="11274552" cy="1600200"/>
          </a:xfrm>
          <a:prstGeom prst="rect">
            <a:avLst/>
          </a:prstGeom>
          <a:solidFill>
            <a:srgbClr val="0A1828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47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Формулы: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76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LTV = ARPU / Churn × Gross Margin = 99 / 0,10 × 0,72 = 713 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LTV/CAC = 713 / 150 = 4,75x   |   Payback = 150 / (99 × 0,72) ≈ 2,1 мес.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3657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Оценка компании: 3 метода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Pre-money диапазон: 8–12 млн руб.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3657600" cy="4773168"/>
          </a:xfrm>
          <a:prstGeom prst="rect">
            <a:avLst/>
          </a:prstGeom>
          <a:solidFill>
            <a:srgbClr val="162B45"/>
          </a:solidFill>
          <a:ln w="15240">
            <a:solidFill>
              <a:srgbClr val="E8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24128"/>
            <a:ext cx="640080" cy="566928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06070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4C60"/>
                </a:solidFill>
              </a:rPr>
              <a:t>Venture Capital
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82496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ARR Год 5 (base): 15M 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57984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Exit мультипл.: 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33472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Exit Value: 60M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Требуемый ROI: 5x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84448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C60"/>
                </a:solidFill>
              </a:rPr>
              <a:t>──────────────────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59936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C60"/>
                </a:solidFill>
              </a:rPr>
              <a:t>Pre-money: ~12M 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553712"/>
            <a:ext cx="3383280" cy="566928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 – 40M 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024128"/>
            <a:ext cx="3657600" cy="4773168"/>
          </a:xfrm>
          <a:prstGeom prst="rect">
            <a:avLst/>
          </a:prstGeom>
          <a:solidFill>
            <a:srgbClr val="162B4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024128"/>
            <a:ext cx="640080" cy="5669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042415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06070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Мультипликаторы
(EV/ARR)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682496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ARR М12: 1,57M 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157984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Диапазон EV/ARR: 3–6x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633472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Growth premium: +30%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108960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(2x MAU/год)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584448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──────────────────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059936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Оценка: 6 – 9M 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553712"/>
            <a:ext cx="3383280" cy="5669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5811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 – 9M 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024128"/>
            <a:ext cx="3657600" cy="4773168"/>
          </a:xfrm>
          <a:prstGeom prst="rect">
            <a:avLst/>
          </a:prstGeom>
          <a:solidFill>
            <a:srgbClr val="162B45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1024128"/>
            <a:ext cx="640080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042415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06070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DCF
(упрощённый)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682496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Горизонт: 5 лет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157984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Ставка дисконт.: 35%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633472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Terminal Value: 25M 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108960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PV FCF: ~3,3M 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584448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──────────────────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059936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Оценка: ~9,5M 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4553712"/>
            <a:ext cx="3383280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45811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3 – 28M 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742432"/>
            <a:ext cx="11274552" cy="896112"/>
          </a:xfrm>
          <a:prstGeom prst="rect">
            <a:avLst/>
          </a:prstGeom>
          <a:solidFill>
            <a:srgbClr val="1E0A0F"/>
          </a:solidFill>
          <a:ln w="15240">
            <a:solidFill>
              <a:srgbClr val="E8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806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4C60"/>
                </a:solidFill>
              </a:rPr>
              <a:t>Итоговый диапазон: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58064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8 – 12 млн руб. pre-money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8704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0B4C8"/>
                </a:solidFill>
              </a:rPr>
              <a:t>При ARR 2,7M ₽ (М18): 10–16M 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3657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Финансовый план — Год 2 (М13–М24)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Выручка 2,76M ₽ | Первая прибыль с М21–22 | EBITDA +99K ₽ в Q8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686800" cy="3840480"/>
          </a:xfrm>
          <a:prstGeom prst="rect">
            <a:avLst/>
          </a:prstGeom>
          <a:solidFill>
            <a:srgbClr val="0A1828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Выручка / Затраты / EBITDA, M ₽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120640"/>
            <a:ext cx="8503920" cy="18288"/>
          </a:xfrm>
          <a:prstGeom prst="rect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5079223"/>
            <a:ext cx="325755" cy="41416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8403" y="3765176"/>
            <a:ext cx="325755" cy="1355463"/>
          </a:xfrm>
          <a:prstGeom prst="rect">
            <a:avLst/>
          </a:prstGeom>
          <a:solidFill>
            <a:srgbClr val="C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91590" y="5120640"/>
            <a:ext cx="325755" cy="1314046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5157216"/>
            <a:ext cx="10858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Г1 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80210" y="4838251"/>
            <a:ext cx="325755" cy="282388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4253" y="3765176"/>
            <a:ext cx="325755" cy="1355463"/>
          </a:xfrm>
          <a:prstGeom prst="rect">
            <a:avLst/>
          </a:prstGeom>
          <a:solidFill>
            <a:srgbClr val="C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39" y="5120640"/>
            <a:ext cx="325755" cy="1073075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5345" y="5157216"/>
            <a:ext cx="10858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Г1 Q2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6060" y="4360074"/>
            <a:ext cx="325755" cy="760565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10103" y="3200399"/>
            <a:ext cx="325755" cy="1920240"/>
          </a:xfrm>
          <a:prstGeom prst="rect">
            <a:avLst/>
          </a:prstGeom>
          <a:solidFill>
            <a:srgbClr val="C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63289" y="5120640"/>
            <a:ext cx="325755" cy="1159674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1196" y="5157216"/>
            <a:ext cx="10858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Г1 Q3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51910" y="3821654"/>
            <a:ext cx="325755" cy="1298985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5953" y="3200399"/>
            <a:ext cx="325755" cy="1920240"/>
          </a:xfrm>
          <a:prstGeom prst="rect">
            <a:avLst/>
          </a:prstGeom>
          <a:solidFill>
            <a:srgbClr val="C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49140" y="5120640"/>
            <a:ext cx="325755" cy="621254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7046" y="5157216"/>
            <a:ext cx="10858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Г1 Q4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3286999"/>
            <a:ext cx="325755" cy="183364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81803" y="2635623"/>
            <a:ext cx="325755" cy="2485016"/>
          </a:xfrm>
          <a:prstGeom prst="rect">
            <a:avLst/>
          </a:prstGeom>
          <a:solidFill>
            <a:srgbClr val="C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34990" y="5120640"/>
            <a:ext cx="325755" cy="651375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82896" y="5157216"/>
            <a:ext cx="10858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Г2 Q1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23610" y="2748578"/>
            <a:ext cx="325755" cy="2372061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67653" y="2635623"/>
            <a:ext cx="325755" cy="2485016"/>
          </a:xfrm>
          <a:prstGeom prst="rect">
            <a:avLst/>
          </a:prstGeom>
          <a:solidFill>
            <a:srgbClr val="C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20840" y="5120640"/>
            <a:ext cx="325755" cy="112955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8746" y="5157216"/>
            <a:ext cx="10858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Г2 Q2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09460" y="2228984"/>
            <a:ext cx="325755" cy="2891655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3502" y="2183802"/>
            <a:ext cx="325755" cy="2936837"/>
          </a:xfrm>
          <a:prstGeom prst="rect">
            <a:avLst/>
          </a:prstGeom>
          <a:solidFill>
            <a:srgbClr val="C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06690" y="5120640"/>
            <a:ext cx="325755" cy="45182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4596" y="5157216"/>
            <a:ext cx="10858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Г2 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95310" y="1811049"/>
            <a:ext cx="325755" cy="330959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39353" y="2183802"/>
            <a:ext cx="325755" cy="2936837"/>
          </a:xfrm>
          <a:prstGeom prst="rect">
            <a:avLst/>
          </a:prstGeom>
          <a:solidFill>
            <a:srgbClr val="C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92540" y="4747887"/>
            <a:ext cx="325755" cy="3727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40446" y="5157216"/>
            <a:ext cx="10858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Г2 Q4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1417320"/>
            <a:ext cx="201168" cy="201168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1389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Выручка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23160" y="1417320"/>
            <a:ext cx="201168" cy="201168"/>
          </a:xfrm>
          <a:prstGeom prst="rect">
            <a:avLst/>
          </a:prstGeom>
          <a:solidFill>
            <a:srgbClr val="C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70048" y="1389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Затраты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1417320"/>
            <a:ext cx="201168" cy="2011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98848" y="1389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EBITDA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08592" y="1024128"/>
            <a:ext cx="2743200" cy="132588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08592" y="11612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2,76M 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08592" y="168249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Выручка Год 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8592" y="2487168"/>
            <a:ext cx="2743200" cy="132588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08592" y="26243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4C60"/>
                </a:solidFill>
              </a:rPr>
              <a:t>-116K 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08592" y="314553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EBITDA Год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08592" y="3950208"/>
            <a:ext cx="2743200" cy="132588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08592" y="40873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4C60"/>
                </a:solidFill>
              </a:rPr>
              <a:t>М21–22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08592" y="460857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Break-even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08592" y="5413248"/>
            <a:ext cx="2743200" cy="132588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08592" y="55504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Q8 +11%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08592" y="607161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EBITDA-маржа Q8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3657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5 факторов повышения оценки компании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Что нужно улучшить, чтобы войти в диапазон 12–20M 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74552" cy="105156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02920" cy="10515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07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188719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4C60"/>
                </a:solidFill>
              </a:rPr>
              <a:t>Retention M1 ≥ 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6276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Низкий churn → высокий LTV → высокий EV/ARR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2070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8"/>
                </a:solidFill>
              </a:rPr>
              <a:t>Сейчас: Pre-launch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60934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Цель: ≥ 45%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1261872"/>
            <a:ext cx="3017520" cy="658368"/>
          </a:xfrm>
          <a:prstGeom prst="rect">
            <a:avLst/>
          </a:prstGeom>
          <a:solidFill>
            <a:srgbClr val="0A1828"/>
          </a:solidFill>
          <a:ln w="15240">
            <a:solidFill>
              <a:srgbClr val="E8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29844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4C60"/>
                </a:solidFill>
              </a:rPr>
              <a:t>+25–40%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11274552" cy="105156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502920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963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30428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Конверсия free→paid ≥ 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Доказывает willingness to pay при цене 99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3225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8"/>
                </a:solidFill>
              </a:rPr>
              <a:t>Сейчас: 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724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Цель: ≥ 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2377440"/>
            <a:ext cx="3017520" cy="658368"/>
          </a:xfrm>
          <a:prstGeom prst="rect">
            <a:avLst/>
          </a:prstGeom>
          <a:solidFill>
            <a:srgbClr val="0A1828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2414015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AA"/>
                </a:solidFill>
              </a:rPr>
              <a:t>+35%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10128"/>
            <a:ext cx="11274552" cy="105156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10128"/>
            <a:ext cx="502920" cy="10515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11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419856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Viral k-factor ≥ 0,3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858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CAC снижается ниже 100 ₽, органика ускоряется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438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8"/>
                </a:solidFill>
              </a:rPr>
              <a:t>Сейчас: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840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Цель: ≥ 0,3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49640" y="3493008"/>
            <a:ext cx="3017520" cy="658368"/>
          </a:xfrm>
          <a:prstGeom prst="rect">
            <a:avLst/>
          </a:prstGeom>
          <a:solidFill>
            <a:srgbClr val="0A1828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3529584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+20%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25696"/>
            <a:ext cx="11274552" cy="105156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425696"/>
            <a:ext cx="502920" cy="1051560"/>
          </a:xfrm>
          <a:prstGeom prst="rect">
            <a:avLst/>
          </a:prstGeom>
          <a:solidFill>
            <a:srgbClr val="6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7274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4535424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080FF"/>
                </a:solidFill>
              </a:rPr>
              <a:t>MAU &gt; 50 000 к М15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49743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Доказательство рыночной тяги на доступном ценовом сегменте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553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8"/>
                </a:solidFill>
              </a:rPr>
              <a:t>Сейчас: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956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Цель: &gt; 50 000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4608576"/>
            <a:ext cx="3017520" cy="658368"/>
          </a:xfrm>
          <a:prstGeom prst="rect">
            <a:avLst/>
          </a:prstGeom>
          <a:solidFill>
            <a:srgbClr val="0A1828"/>
          </a:solidFill>
          <a:ln w="15240">
            <a:solidFill>
              <a:srgbClr val="6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64515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080FF"/>
                </a:solidFill>
              </a:rPr>
              <a:t>+30%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541264"/>
            <a:ext cx="11274552" cy="1051560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541264"/>
            <a:ext cx="502920" cy="1051560"/>
          </a:xfrm>
          <a:prstGeom prst="rect">
            <a:avLst/>
          </a:prstGeom>
          <a:solidFill>
            <a:srgbClr val="FF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8430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" y="565099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040"/>
                </a:solidFill>
              </a:rPr>
              <a:t>Gross Margin ≥ 75%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" y="608990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Кэширование аудио + выбор TTS-провайдера снижает COGS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6692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8"/>
                </a:solidFill>
              </a:rPr>
              <a:t>Сейчас: ~72%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60716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Цель: ≥ 75%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9640" y="5724144"/>
            <a:ext cx="3017520" cy="658368"/>
          </a:xfrm>
          <a:prstGeom prst="rect">
            <a:avLst/>
          </a:prstGeom>
          <a:solidFill>
            <a:srgbClr val="0A1828"/>
          </a:solidFill>
          <a:ln w="15240">
            <a:solidFill>
              <a:srgbClr val="FF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9640" y="576072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040"/>
                </a:solidFill>
              </a:rPr>
              <a:t>+10%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36576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План повышения оценки: 4–8 недель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Конкретные шаги для улучшения ключевых метрик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1298448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371600" cy="402336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Нед.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0876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Paywall-экран + счётчик
«осталось X игр»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4C60"/>
                </a:solidFill>
              </a:rPr>
              <a:t>KPI: Activation rate ≥ 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51560"/>
            <a:ext cx="5577840" cy="1298448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51560"/>
            <a:ext cx="1371600" cy="402336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155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Нед. 1–2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50876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Firebase/Amplitude:
отслеживание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208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4C60"/>
                </a:solidFill>
              </a:rPr>
              <a:t>KPI: Данные M1 retention ч/з 4 нед.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5577840" cy="1298448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68880"/>
            <a:ext cx="1371600" cy="40233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328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Нед. 2–3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92608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Share-ссылка на комнату
ч/з ВКонтакте / Telegram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438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D4AA"/>
                </a:solidFill>
              </a:rPr>
              <a:t>KPI: k-фактор ≥ 0,25 к М3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468880"/>
            <a:ext cx="5577840" cy="1298448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468880"/>
            <a:ext cx="1371600" cy="40233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5328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Нед. 3–4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92608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Бонус +1 игра за
первое приглашение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438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D4AA"/>
                </a:solidFill>
              </a:rPr>
              <a:t>KPI: Share rate ≥ 30% хостов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86200"/>
            <a:ext cx="5577840" cy="1298448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1371600" cy="40233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502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Нед. 4–6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34340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Сообщество ВКонтакте +
ежедневный контент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8554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KPI: 500+ подписчиков к М2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886200"/>
            <a:ext cx="5577840" cy="1298448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886200"/>
            <a:ext cx="1371600" cy="40233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9502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Нед. 5–6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34340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Оптимизация TTS /
кэширование аудиофраз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8554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KPI: COGS ≤ 22% выручки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03520"/>
            <a:ext cx="5577840" cy="1298448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303520"/>
            <a:ext cx="1371600" cy="402336"/>
          </a:xfrm>
          <a:prstGeom prst="rect">
            <a:avLst/>
          </a:prstGeom>
          <a:solidFill>
            <a:srgbClr val="FF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3675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Нед. 6–8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76072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 видео TikTok/ВК
с игровыми моментами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2727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8040"/>
                </a:solidFill>
              </a:rPr>
              <a:t>KPI: ≥ 300 органич. установок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303520"/>
            <a:ext cx="5577840" cy="1298448"/>
          </a:xfrm>
          <a:prstGeom prst="rect">
            <a:avLst/>
          </a:prstGeom>
          <a:solidFill>
            <a:srgbClr val="162B45"/>
          </a:solidFill>
          <a:ln w="1524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5303520"/>
            <a:ext cx="1371600" cy="402336"/>
          </a:xfrm>
          <a:prstGeom prst="rect">
            <a:avLst/>
          </a:prstGeom>
          <a:solidFill>
            <a:srgbClr val="FF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53675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Нед. 6–8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576072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30+ отзывов в сторах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62727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8040"/>
                </a:solidFill>
              </a:rPr>
              <a:t>KPI: Рейтинг ≥ 4,3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Итог: запрос ресурсов и ключевые выводы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3657600" cy="3931920"/>
          </a:xfrm>
          <a:prstGeom prst="rect">
            <a:avLst/>
          </a:prstGeom>
          <a:solidFill>
            <a:srgbClr val="162B45"/>
          </a:solidFill>
          <a:ln w="15240">
            <a:solidFill>
              <a:srgbClr val="E8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24128"/>
            <a:ext cx="3657600" cy="457200"/>
          </a:xfrm>
          <a:prstGeom prst="rect">
            <a:avLst/>
          </a:prstGeom>
          <a:solidFill>
            <a:srgbClr val="E8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51560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Стратегия роста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PLG + вирусная петля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3 мес: 72 плат., MRR 7K 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3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12 мес: 1 320 плат.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MRR 131K ₽ к М12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148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6 экспериментов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024128"/>
            <a:ext cx="3657600" cy="3931920"/>
          </a:xfrm>
          <a:prstGeom prst="rect">
            <a:avLst/>
          </a:prstGeom>
          <a:solidFill>
            <a:srgbClr val="162B4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024128"/>
            <a:ext cx="3657600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051560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Финансовый план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5544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Год 1 выручка: 633K 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945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Год 2 выручка: 2,76M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3463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Break-even: М21–22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4747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Чистая прибыль М22+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1148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ARPU: 99 ₽ (1 тариф)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024128"/>
            <a:ext cx="3657600" cy="3931920"/>
          </a:xfrm>
          <a:prstGeom prst="rect">
            <a:avLst/>
          </a:prstGeom>
          <a:solidFill>
            <a:srgbClr val="162B45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024128"/>
            <a:ext cx="36576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1051560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Оценка компании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5544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VC Method: ~12M 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1945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Мультипл. EV/ARR: ~7M 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83463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DCF (35%): ~9,5M 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4747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Диапазон: 8–12M 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1148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К М18: 10–16M 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02352"/>
            <a:ext cx="11274552" cy="1572768"/>
          </a:xfrm>
          <a:prstGeom prst="rect">
            <a:avLst/>
          </a:prstGeom>
          <a:solidFill>
            <a:srgbClr val="1E0A0F"/>
          </a:solidFill>
          <a:ln w="15240">
            <a:solidFill>
              <a:srgbClr val="E8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937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4C60"/>
                </a:solidFill>
              </a:rPr>
              <a:t>Запрос инвестиций: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4992" y="514807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1 500 000 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2486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на 24 месяца операционной деятельности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5961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B4C8"/>
                </a:solidFill>
              </a:rPr>
              <a:t>Разработка: 900K ₽  |  Маркетинг: 360K ₽  |  Инфраструктура/TTS: 180K ₽  |  Прочее: 60K 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Ожидаемый результат: ARR 1,57M ₽ к М12 · 3,66M ₽ к М24 · Break-even М21–22 · Оценка 8–12M 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