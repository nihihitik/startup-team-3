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1" d="100"/>
          <a:sy n="191" d="100"/>
        </p:scale>
        <p:origin x="1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Запросов/мес</c:v>
                </c:pt>
              </c:strCache>
            </c:strRef>
          </c:tx>
          <c:spPr>
            <a:solidFill>
              <a:srgbClr val="A82020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52867</c:v>
                </c:pt>
                <c:pt idx="1">
                  <c:v>36876</c:v>
                </c:pt>
                <c:pt idx="2">
                  <c:v>34185</c:v>
                </c:pt>
                <c:pt idx="3">
                  <c:v>28571</c:v>
                </c:pt>
                <c:pt idx="4">
                  <c:v>33323</c:v>
                </c:pt>
                <c:pt idx="5">
                  <c:v>40946</c:v>
                </c:pt>
                <c:pt idx="6">
                  <c:v>40810</c:v>
                </c:pt>
                <c:pt idx="7">
                  <c:v>39230</c:v>
                </c:pt>
                <c:pt idx="8">
                  <c:v>26951</c:v>
                </c:pt>
                <c:pt idx="9">
                  <c:v>33552</c:v>
                </c:pt>
                <c:pt idx="10">
                  <c:v>35621</c:v>
                </c:pt>
                <c:pt idx="11">
                  <c:v>42106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E3-7A43-84A1-E3DE844BDD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78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78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144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2020"/>
          </a:solidFill>
          <a:ln w="12700">
            <a:solidFill>
              <a:srgbClr val="A8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3132A"/>
          </a:solidFill>
          <a:ln w="12700">
            <a:solidFill>
              <a:srgbClr val="131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36576" cy="5143500"/>
          </a:xfrm>
          <a:prstGeom prst="rect">
            <a:avLst/>
          </a:prstGeom>
          <a:solidFill>
            <a:srgbClr val="A82020"/>
          </a:solidFill>
          <a:ln w="12700">
            <a:solidFill>
              <a:srgbClr val="A82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502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ИИ-Гейммастер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201168" y="1481328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Мафии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01168" y="2340864"/>
            <a:ext cx="2560320" cy="54864"/>
          </a:xfrm>
          <a:prstGeom prst="rect">
            <a:avLst/>
          </a:prstGeom>
          <a:solidFill>
            <a:srgbClr val="A82020"/>
          </a:solidFill>
          <a:ln w="12700">
            <a:solidFill>
              <a:srgbClr val="A82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248716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Голосовой ИИ-ведущий, который заменит «жертву вечернего веселья» — игрока, вынужденного организовывать вместо участия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" y="47091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Стартап в информационных технологиях  · 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466344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16752" y="2560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A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16752" y="74980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1 000 000+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016752" y="14630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скачиваний «Мафия Ведущий»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Play, 2025)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2212848"/>
            <a:ext cx="2468880" cy="27432"/>
          </a:xfrm>
          <a:prstGeom prst="rect">
            <a:avLst/>
          </a:prstGeom>
          <a:solidFill>
            <a:srgbClr val="787890"/>
          </a:solidFill>
          <a:ln w="12700">
            <a:solidFill>
              <a:srgbClr val="7878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35915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445 000+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16752" y="307238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запросов по игровым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кластерам «мафия» за 2025 год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3767328"/>
            <a:ext cx="2468880" cy="27432"/>
          </a:xfrm>
          <a:prstGeom prst="rect">
            <a:avLst/>
          </a:prstGeom>
          <a:solidFill>
            <a:srgbClr val="787890"/>
          </a:solidFill>
          <a:ln w="12700">
            <a:solidFill>
              <a:srgbClr val="7878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39136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9 000+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016752" y="45079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игроков онлайн · gomafia.pro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8183A"/>
          </a:solidFill>
          <a:ln w="12700">
            <a:solidFill>
              <a:srgbClr val="1818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A82020"/>
          </a:solidFill>
          <a:ln w="12700">
            <a:solidFill>
              <a:srgbClr val="A82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36576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4592" y="777240"/>
            <a:ext cx="425196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77240"/>
            <a:ext cx="64008" cy="4114800"/>
          </a:xfrm>
          <a:prstGeom prst="rect">
            <a:avLst/>
          </a:prstGeom>
          <a:solidFill>
            <a:srgbClr val="A82020"/>
          </a:solidFill>
          <a:ln w="12700">
            <a:solidFill>
              <a:srgbClr val="A82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868680"/>
            <a:ext cx="420624" cy="420624"/>
          </a:xfrm>
          <a:prstGeom prst="ellipse">
            <a:avLst/>
          </a:prstGeom>
          <a:solidFill>
            <a:srgbClr val="A82020"/>
          </a:solidFill>
          <a:ln w="12700">
            <a:solidFill>
              <a:srgbClr val="A82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868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8869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хочет быть ведущим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7472" y="143560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Контекст:  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Ведущий организует игру, но сам не участвует. 5–10 мин перед каждой игрой уходит на споры — кто «пожертвует собой».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218541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Последствия:  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человек вынужден вести снова и снова — теряет интерес, перестаёт приходить. Игры отменяются.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" y="293522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текущие решения не помогают:  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«Мафия Ведущий», True Mafia — текстовые боты без голоса. Нет атмосферы и характера живого ведущего.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3758184"/>
            <a:ext cx="3977640" cy="685800"/>
          </a:xfrm>
          <a:prstGeom prst="rect">
            <a:avLst/>
          </a:prstGeom>
          <a:solidFill>
            <a:srgbClr val="1C1C32"/>
          </a:solidFill>
          <a:ln w="12700">
            <a:solidFill>
              <a:srgbClr val="1C1C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81304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</a:t>
            </a:r>
            <a:r>
              <a:rPr lang="en-US" sz="100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установок «Мафия Ведущий» в Google Play — люди уже ищут способ убрать живого ведущего. 445 000 запросов по игровым кластерам «мафия» в Яндексе за 2025 год — спрос есть, но некому его удовлетворить.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45079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Google Play 2025 — «Мафия Ведущий» 1M+ скачиваний; Яндекс.Wordstat, фев. 2026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27448" y="777240"/>
            <a:ext cx="425196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777240"/>
            <a:ext cx="64008" cy="4114800"/>
          </a:xfrm>
          <a:prstGeom prst="rect">
            <a:avLst/>
          </a:prstGeom>
          <a:solidFill>
            <a:srgbClr val="C09010"/>
          </a:solidFill>
          <a:ln w="12700">
            <a:solidFill>
              <a:srgbClr val="C090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64608" y="868680"/>
            <a:ext cx="420624" cy="420624"/>
          </a:xfrm>
          <a:prstGeom prst="ellipse">
            <a:avLst/>
          </a:prstGeom>
          <a:solidFill>
            <a:srgbClr val="C09010"/>
          </a:solidFill>
          <a:ln w="12700">
            <a:solidFill>
              <a:srgbClr val="C09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868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67528" y="8869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Готового ИИ-ведущего для мафии не существует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10328" y="143560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Контекст:  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Вести мафию — значит отслеживать роли, смерти, голосования и очерёдность ходов в реальном времени на протяжении 1–2 часов. Это системная задача, а не диалог с ассистентом.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0328" y="218541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Последствия:  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Попытки адаптировать ChatGPT или Алису ломаются: контекст теряется, «убитые» участвуют снова, счёт сбивается. Партия рассыпается на 20–30-й минуте.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10328" y="293522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текущие решения не помогают:  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«Мафия Ведущий» и True Mafia — текстовые боты без игрового движка. ChatGPT — универсальный помощник, не специализированная система ведения сессии.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10328" y="3758184"/>
            <a:ext cx="3977640" cy="685800"/>
          </a:xfrm>
          <a:prstGeom prst="rect">
            <a:avLst/>
          </a:prstGeom>
          <a:solidFill>
            <a:srgbClr val="1C1C32"/>
          </a:solidFill>
          <a:ln w="12700">
            <a:solidFill>
              <a:srgbClr val="1C1C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381304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</a:t>
            </a:r>
            <a:r>
              <a:rPr lang="en-US" sz="100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специализации — ключевая причина сбоёв голосового ИИ в игровых сессиях: общие модели эффективно используют лишь 10–20% контекста (AIRI, МФТИ, NeurIPS 2024). Выделенного продукта с игровым движком для мафии в России нет.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0328" y="45079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AIRI, МФТИ. BABILong. NeurIPS, 2024. arxiv:2406.10149; анализ AppStore/Google Play/RuStore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8183A"/>
          </a:solidFill>
          <a:ln w="12700">
            <a:solidFill>
              <a:srgbClr val="1818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C09010"/>
          </a:solidFill>
          <a:ln w="12700">
            <a:solidFill>
              <a:srgbClr val="C09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36576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КЛИЕНТ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4592" y="777240"/>
            <a:ext cx="425196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77240"/>
            <a:ext cx="64008" cy="4114800"/>
          </a:xfrm>
          <a:prstGeom prst="rect">
            <a:avLst/>
          </a:prstGeom>
          <a:solidFill>
            <a:srgbClr val="C09010"/>
          </a:solidFill>
          <a:ln w="12700">
            <a:solidFill>
              <a:srgbClr val="C090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Приоритетный сегмент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1673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Кто:  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Компании </a:t>
            </a:r>
            <a:r>
              <a:rPr lang="en-US" sz="1150" dirty="0" err="1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друзей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r>
              <a:rPr lang="ru-RU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–30 лет, играющие в мафию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Где:  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Дом, антикафе, корпоративы, студенческие вечеринки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34086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Частота:  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раза в месяц, сессии 2–4 часа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28529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рынка:  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установок «Мафия Ведущий» в Google Play — прямое подтверждение спроса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33649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Платёжеспособность:  </a:t>
            </a:r>
            <a:r>
              <a:rPr lang="en-US" sz="11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Антикафе 400–800₽/чел. за вечер; готовы платить 99–199₽/мес за приложение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913632"/>
            <a:ext cx="3977640" cy="749808"/>
          </a:xfrm>
          <a:prstGeom prst="rect">
            <a:avLst/>
          </a:prstGeom>
          <a:solidFill>
            <a:srgbClr val="1C1C32"/>
          </a:solidFill>
          <a:ln w="12700">
            <a:solidFill>
              <a:srgbClr val="1C1C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913632"/>
            <a:ext cx="54864" cy="749808"/>
          </a:xfrm>
          <a:prstGeom prst="rect">
            <a:avLst/>
          </a:prstGeom>
          <a:solidFill>
            <a:srgbClr val="A82020"/>
          </a:solidFill>
          <a:ln w="12700">
            <a:solidFill>
              <a:srgbClr val="A8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959352"/>
            <a:ext cx="3813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«Нас 8 человек — все хотим играть. Но кто-то должен пожертвовать собой и вести. Мы хотим просто сесть, запустить приложение и играть наравне со всеми.»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7448" y="80467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Яндекс.Wordstat: сумма 6 игровых кластеров по месяцам, 2025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727448" y="1234440"/>
          <a:ext cx="42519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4727448" y="36758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Итого: 445 038 запросов за 2025 · Пик — январь (52 867)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27448" y="40690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барьеры: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727448" y="437083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Привычка: </a:t>
            </a:r>
            <a:r>
              <a:rPr lang="en-US" sz="95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 компании есть свой ведущий, никто не ищет замену — проблема невидима.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Онбординг: </a:t>
            </a:r>
            <a:r>
              <a:rPr lang="en-US" sz="95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Скачать, раздать роли, настроить звук — первый запуск требует усилий до старта игры.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64592" y="48920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Яндекс.Wordstat 2025 — сумма 6 игровых кластеров; Google Play — «Мафия Ведущий» 1M+ скачиваний; gomafia.pro — 9 000+ игроков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8183A"/>
          </a:solidFill>
          <a:ln w="12700">
            <a:solidFill>
              <a:srgbClr val="1818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7A3ABF"/>
          </a:solidFill>
          <a:ln w="12700">
            <a:solidFill>
              <a:srgbClr val="7A3A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36576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 ·  TAM / SAM / SOM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2834640" cy="4133088"/>
          </a:xfrm>
          <a:prstGeom prst="rect">
            <a:avLst/>
          </a:prstGeom>
          <a:solidFill>
            <a:srgbClr val="1B1030"/>
          </a:solidFill>
          <a:ln w="12700">
            <a:solidFill>
              <a:srgbClr val="1B103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49808"/>
            <a:ext cx="2834640" cy="91440"/>
          </a:xfrm>
          <a:prstGeom prst="rect">
            <a:avLst/>
          </a:prstGeom>
          <a:solidFill>
            <a:srgbClr val="7A3ABF"/>
          </a:solidFill>
          <a:ln w="12700">
            <a:solidFill>
              <a:srgbClr val="7A3A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749808"/>
            <a:ext cx="64008" cy="4133088"/>
          </a:xfrm>
          <a:prstGeom prst="rect">
            <a:avLst/>
          </a:prstGeom>
          <a:solidFill>
            <a:srgbClr val="7A3ABF"/>
          </a:solidFill>
          <a:ln w="12700">
            <a:solidFill>
              <a:srgbClr val="7A3A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87782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3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" y="134416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объём рынка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" y="1636776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потенциальные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игроки в мафию в России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2139696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 млрд ₽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29184" y="2779776"/>
            <a:ext cx="2542032" cy="22860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85292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3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" y="315468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Диапазон: измеренный нижний предел + оценочный верхний предел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" y="3566160"/>
            <a:ext cx="2578608" cy="566928"/>
          </a:xfrm>
          <a:prstGeom prst="rect">
            <a:avLst/>
          </a:prstGeom>
          <a:solidFill>
            <a:srgbClr val="1C1C32"/>
          </a:solidFill>
          <a:ln w="12700">
            <a:solidFill>
              <a:srgbClr val="1C1C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602736"/>
            <a:ext cx="24505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3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Формула:  </a:t>
            </a:r>
            <a:r>
              <a:rPr lang="en-US" sz="9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3 000 000 польз.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149 ₽/мес × 12 мес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" y="4178808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Нижняя граница: 445 000 запросов по 6 чистым игровым кластерам за 2025 год (Яндекс.Wordstat). Верхняя оценка: ~3M, включает игроков без цифровых инструментов. TAM считается по верхней оценке.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9184" y="4718304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Google Play 2025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36392" y="749808"/>
            <a:ext cx="2834640" cy="4133088"/>
          </a:xfrm>
          <a:prstGeom prst="rect">
            <a:avLst/>
          </a:prstGeom>
          <a:solidFill>
            <a:srgbClr val="181420"/>
          </a:solidFill>
          <a:ln w="12700">
            <a:solidFill>
              <a:srgbClr val="18142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36392" y="749808"/>
            <a:ext cx="2834640" cy="91440"/>
          </a:xfrm>
          <a:prstGeom prst="rect">
            <a:avLst/>
          </a:prstGeom>
          <a:solidFill>
            <a:srgbClr val="C09010"/>
          </a:solidFill>
          <a:ln w="12700">
            <a:solidFill>
              <a:srgbClr val="C090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36392" y="749808"/>
            <a:ext cx="64008" cy="4133088"/>
          </a:xfrm>
          <a:prstGeom prst="rect">
            <a:avLst/>
          </a:prstGeom>
          <a:solidFill>
            <a:srgbClr val="C09010"/>
          </a:solidFill>
          <a:ln w="12700">
            <a:solidFill>
              <a:srgbClr val="C090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87782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00984" y="134416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Доступный рынок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00984" y="1636776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Активная аудитория,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платящая за ведущего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64408" y="2139696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 млрд ₽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3300984" y="2779776"/>
            <a:ext cx="2542032" cy="22860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00984" y="285292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00984" y="315468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снизу вверх от реального подтверждённого спроса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00984" y="3566160"/>
            <a:ext cx="2578608" cy="566928"/>
          </a:xfrm>
          <a:prstGeom prst="rect">
            <a:avLst/>
          </a:prstGeom>
          <a:solidFill>
            <a:srgbClr val="1C1C32"/>
          </a:solidFill>
          <a:ln w="12700">
            <a:solidFill>
              <a:srgbClr val="1C1C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92424" y="3602736"/>
            <a:ext cx="24505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Формула:  </a:t>
            </a:r>
            <a:r>
              <a:rPr lang="en-US" sz="9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1 000 000 польз.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99 ₽/мес × 12 мес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00984" y="4178808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Базис: прямой сигнал — 1M+ установок «Мафия Ведущий» в Google Play. Это пользователи, которые уже ищут ИИ-ведущего.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00984" y="4718304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Google Play 2025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108192" y="749808"/>
            <a:ext cx="2834640" cy="4133088"/>
          </a:xfrm>
          <a:prstGeom prst="rect">
            <a:avLst/>
          </a:prstGeom>
          <a:solidFill>
            <a:srgbClr val="0E1E1C"/>
          </a:solidFill>
          <a:ln w="12700">
            <a:solidFill>
              <a:srgbClr val="0E1E1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08192" y="749808"/>
            <a:ext cx="2834640" cy="91440"/>
          </a:xfrm>
          <a:prstGeom prst="rect">
            <a:avLst/>
          </a:prstGeom>
          <a:solidFill>
            <a:srgbClr val="1A8A78"/>
          </a:solidFill>
          <a:ln w="12700">
            <a:solidFill>
              <a:srgbClr val="1A8A7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08192" y="749808"/>
            <a:ext cx="64008" cy="4133088"/>
          </a:xfrm>
          <a:prstGeom prst="rect">
            <a:avLst/>
          </a:prstGeom>
          <a:solidFill>
            <a:srgbClr val="1A8A78"/>
          </a:solidFill>
          <a:ln w="12700">
            <a:solidFill>
              <a:srgbClr val="1A8A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87782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272784" y="134416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Реалистичный захват · Год 1–2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72784" y="1636776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Антикафе + ранние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B2C-пользователи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36208" y="2139696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млн ₽</a:t>
            </a:r>
            <a:endParaRPr lang="en-US" sz="2800" dirty="0"/>
          </a:p>
        </p:txBody>
      </p:sp>
      <p:sp>
        <p:nvSpPr>
          <p:cNvPr id="40" name="Shape 38"/>
          <p:cNvSpPr/>
          <p:nvPr/>
        </p:nvSpPr>
        <p:spPr>
          <a:xfrm>
            <a:off x="6272784" y="2779776"/>
            <a:ext cx="2542032" cy="22860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285292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72784" y="315468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сегменты с наибольшей готовностью платить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72784" y="3566160"/>
            <a:ext cx="2578608" cy="566928"/>
          </a:xfrm>
          <a:prstGeom prst="rect">
            <a:avLst/>
          </a:prstGeom>
          <a:solidFill>
            <a:srgbClr val="1C1C32"/>
          </a:solidFill>
          <a:ln w="12700">
            <a:solidFill>
              <a:srgbClr val="1C1C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4224" y="3602736"/>
            <a:ext cx="24505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Формула:  </a:t>
            </a:r>
            <a:r>
              <a:rPr lang="en-US" sz="9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антикафе × 4 000₽ × 12 мес  = 9,6М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+ 15 000 B2C × 149₽ × 12 мес  = 26,8М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72784" y="4178808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Итого: 9,6М + 26,8М ≈ 36 млн ₽/год. ~200 — оценка ёмкости сегмента по данным РБК (рынок антикафе в России, 2023). Антикафе платят ведущим 1 500–3 000₽/вечер — ИИ даёт прямую экономию.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72784" y="4718304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gomafia.pro; РБК Магазин исследований, 2023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8183A"/>
          </a:solidFill>
          <a:ln w="12700">
            <a:solidFill>
              <a:srgbClr val="1818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1A8A78"/>
          </a:solidFill>
          <a:ln w="12700">
            <a:solidFill>
              <a:srgbClr val="1A8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36576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СЕЙЧАС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4592" y="777240"/>
            <a:ext cx="4315968" cy="1828800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77240"/>
            <a:ext cx="64008" cy="1828800"/>
          </a:xfrm>
          <a:prstGeom prst="rect">
            <a:avLst/>
          </a:prstGeom>
          <a:solidFill>
            <a:srgbClr val="A82020"/>
          </a:solidFill>
          <a:ln w="12700">
            <a:solidFill>
              <a:srgbClr val="A8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503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868680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Прорыв голосового ИИ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92608" y="1344168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и Yandex SpeechKit достигли качества, достаточного для реалистичного ведущего в реальном времени. Синтез речи вошёл в массовый рынок.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2313432"/>
            <a:ext cx="40965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elevenlabs.io — State of AI Voice, 2024; cloud.yandex.ru/services/speechkit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777240"/>
            <a:ext cx="4315968" cy="1828800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777240"/>
            <a:ext cx="64008" cy="1828800"/>
          </a:xfrm>
          <a:prstGeom prst="rect">
            <a:avLst/>
          </a:prstGeom>
          <a:solidFill>
            <a:srgbClr val="C09010"/>
          </a:solidFill>
          <a:ln w="12700">
            <a:solidFill>
              <a:srgbClr val="C09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8503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85816" y="868680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уже ищет ведущего онлайн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09744" y="1344168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~99 000 запросов «мафия ведущий» в Яндексе в год — люди ищут именно цифрового ведущего. 1M+ загрузок «Мафия Ведущий» — аудитория нашла ближайшую замену, но довольствуется текстом.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9744" y="2313432"/>
            <a:ext cx="40965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Яндекс.Wordstat, фев. 2026; Google Play 2025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4592" y="2816352"/>
            <a:ext cx="4315968" cy="1828800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4592" y="2816352"/>
            <a:ext cx="64008" cy="1828800"/>
          </a:xfrm>
          <a:prstGeom prst="rect">
            <a:avLst/>
          </a:prstGeom>
          <a:solidFill>
            <a:srgbClr val="1A8A78"/>
          </a:solidFill>
          <a:ln w="12700">
            <a:solidFill>
              <a:srgbClr val="1A8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88950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2907792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Антикафе экономят на ведущих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92608" y="3383280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Антикафе платят ведущим 1 500–3 000₽ за вечер. ИИ-ведущий снижает операционные затраты и снимает зависимость от наёмного персонала.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2608" y="4352544"/>
            <a:ext cx="40965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gomafia.pro; РБК Магазин исследований, 2023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2816352"/>
            <a:ext cx="4315968" cy="1828800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2816352"/>
            <a:ext cx="64008" cy="1828800"/>
          </a:xfrm>
          <a:prstGeom prst="rect">
            <a:avLst/>
          </a:prstGeom>
          <a:solidFill>
            <a:srgbClr val="3A7ACC"/>
          </a:solidFill>
          <a:ln w="12700">
            <a:solidFill>
              <a:srgbClr val="3A7A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88950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85816" y="2907792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ИИ-взаимодействие — норма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09744" y="3383280"/>
            <a:ext cx="4096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Алиса, ГигаЧат нормализовали разговор с ИИ. Барьер «это странно» исчезает — аудитория 18–30 лет готова принять ИИ-ведущего.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9744" y="4352544"/>
            <a:ext cx="40965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Яндекс. Алиса: 50M+ активных пользователей, 2024; OpenAI — ChatGPT 100M users, 2023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8183A"/>
          </a:solidFill>
          <a:ln w="12700">
            <a:solidFill>
              <a:srgbClr val="1818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787890"/>
          </a:solidFill>
          <a:ln w="12700">
            <a:solidFill>
              <a:srgbClr val="7878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36576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ИСТОЧНИКОВ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4251960" cy="4224528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777240"/>
            <a:ext cx="45720" cy="4224528"/>
          </a:xfrm>
          <a:prstGeom prst="rect">
            <a:avLst/>
          </a:prstGeom>
          <a:solidFill>
            <a:srgbClr val="787890"/>
          </a:solidFill>
          <a:ln w="12700">
            <a:solidFill>
              <a:srgbClr val="7878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99432" y="777240"/>
            <a:ext cx="4251960" cy="4224528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777240"/>
            <a:ext cx="45720" cy="4224528"/>
          </a:xfrm>
          <a:prstGeom prst="rect">
            <a:avLst/>
          </a:prstGeom>
          <a:solidFill>
            <a:srgbClr val="787890"/>
          </a:solidFill>
          <a:ln w="12700">
            <a:solidFill>
              <a:srgbClr val="7878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86968"/>
            <a:ext cx="256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886968"/>
            <a:ext cx="37764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Куратов Ю. [и др.] ; AIRI, МФТИ. BABILong: Testing the Limits of LLMs with Long Context Reasoning-in-a-Haystack // Advances in Neural Information Processing Systems (NeurIPS). — 2024. — URL: https://arxiv.org/abs/2406.10149.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600200"/>
            <a:ext cx="4050792" cy="10973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55064"/>
            <a:ext cx="256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655064"/>
            <a:ext cx="37764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Яндекс. Яндекс.Вордстат: динамика 6 игровых кластеров «мафия» за 2025 год [Электронный ресурс]. — URL: https://wordstat.yandex.ru (дата обращения: 09.03.2026).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368296"/>
            <a:ext cx="4050792" cy="10973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23160"/>
            <a:ext cx="256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37764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LLC. Google Play Market: «Мафия Ведущий» — данные по количеству установок [Электронный ресурс]. — URL: https://play.google.com (дата обращения: 04.03.2026).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136392"/>
            <a:ext cx="4050792" cy="10973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91256"/>
            <a:ext cx="256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191256"/>
            <a:ext cx="37764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(ВКонтакте). RuStore: «Мафия — Игра для компании» — количество загрузок [Электронный ресурс]. — URL: https://rustore.ru (дата обращения: 04.03.2026).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09160" y="886968"/>
            <a:ext cx="256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886968"/>
            <a:ext cx="37764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gomafia.pro. Онлайн-платформа для игры в мафию: статистика активных игроков [Электронный ресурс]. — URL: https://gomafia.pro (дата обращения: 06.03.2026).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1600200"/>
            <a:ext cx="4050792" cy="10973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655064"/>
            <a:ext cx="256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83480" y="1655064"/>
            <a:ext cx="37764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ElevenLabs, Inc. Text-to-Speech API: синтез речи в реальном времени [Электронный ресурс]. — URL: https://elevenlabs.io (дата обращения: 05.03.2026).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368296"/>
            <a:ext cx="4050792" cy="10973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423160"/>
            <a:ext cx="256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2423160"/>
            <a:ext cx="37764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«Яндекс». SpeechKit: синтез и распознавание речи [Электронный ресурс]. — URL: https://cloud.yandex.ru/services/speechkit (дата обращения: 06.03.2026).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3136392"/>
            <a:ext cx="4050792" cy="10973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191256"/>
            <a:ext cx="256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0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3191256"/>
            <a:ext cx="37764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РБК Магазин исследований. Маркетинговое исследование рынка антикафе в России [Электронный ресурс]. — 2023. — URL: https://marketing.rbc.ru/research/42010/ (дата обращения: 07.03.2026).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Microsoft Macintosh PowerPoint</Application>
  <PresentationFormat>Экран (16:9)</PresentationFormat>
  <Paragraphs>117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ИИ-Гейммастер для Мафии — Pitch Deck</dc:title>
  <dc:subject>PptxGenJS Presentation</dc:subject>
  <dc:creator>PptxGenJS</dc:creator>
  <cp:lastModifiedBy>Nikita</cp:lastModifiedBy>
  <cp:revision>2</cp:revision>
  <dcterms:created xsi:type="dcterms:W3CDTF">2026-03-10T19:26:08Z</dcterms:created>
  <dcterms:modified xsi:type="dcterms:W3CDTF">2026-03-10T19:27:08Z</dcterms:modified>
</cp:coreProperties>
</file>