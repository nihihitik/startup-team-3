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Сегмент + Сценарий + Проблема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Кто, когда и с какой болью сталкивается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4023360" cy="1143000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СЕГМЕНТ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Компании друзей 18–30 лет, 4–12 человек,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играющие в мафию 1–4 раза в месяц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76856"/>
            <a:ext cx="4023360" cy="1417320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50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Собрались играть, но никто не хочет быть ведущим.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Ведущий не играет сам — приходится жертвовать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одним из компании. Спор «кто ведёт» = 5–10 минут.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024128"/>
            <a:ext cx="4114800" cy="1783080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0600" y="1353312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ведущего мафия не работает.
</a:t>
            </a:r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Текстовые приложения </a:t>
            </a:r>
            <a:pPr indent="0" marL="0">
              <a:buNone/>
            </a:pPr>
            <a:r>
              <a:rPr lang="en-US" sz="13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убивают атмосферу</a:t>
            </a:r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ведущий =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1 500–6 500 ₽ за вечер</a:t>
            </a:r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935224"/>
            <a:ext cx="4114800" cy="1280160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008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ПОСЛЕДСТВИЕ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326440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Игры срываются, либо один и тот же человек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постоянно ведёт вместо того, чтобы играть.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мафия? Фиксированные правила → ИИ справляется. Аудитория массовая. Боль острая. D&amp;D — следующий шаг.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Конкуренты и замены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ещё решает ту же боль?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201168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95728" y="1024128"/>
            <a:ext cx="164592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7168" y="1024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Игроки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59936" y="1024128"/>
            <a:ext cx="182880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51376" y="1024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07024" y="1024128"/>
            <a:ext cx="265176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98464" y="10241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Слабость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1389888"/>
            <a:ext cx="2011680" cy="749808"/>
          </a:xfrm>
          <a:prstGeom prst="rect">
            <a:avLst/>
          </a:prstGeom>
          <a:solidFill>
            <a:srgbClr val="16192E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389888"/>
            <a:ext cx="36576" cy="74980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463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ПРЯМЫЕ КОНКУРЕНТЫ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18470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«Мафия Ведущий», Telegram-боты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95728" y="1389888"/>
            <a:ext cx="1645920" cy="749808"/>
          </a:xfrm>
          <a:prstGeom prst="rect">
            <a:avLst/>
          </a:prstGeom>
          <a:solidFill>
            <a:srgbClr val="16192E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87168" y="1389888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Компании друзей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59936" y="1389888"/>
            <a:ext cx="1828800" cy="749808"/>
          </a:xfrm>
          <a:prstGeom prst="rect">
            <a:avLst/>
          </a:prstGeom>
          <a:solidFill>
            <a:srgbClr val="16192E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51376" y="138988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Ведут мафию бесплатно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07024" y="1389888"/>
            <a:ext cx="2651760" cy="749808"/>
          </a:xfrm>
          <a:prstGeom prst="rect">
            <a:avLst/>
          </a:prstGeom>
          <a:solidFill>
            <a:srgbClr val="16192E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98464" y="138988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голоса и атмосферы (текст/таблички)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185416"/>
            <a:ext cx="201168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185416"/>
            <a:ext cx="36576" cy="7498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2585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КОСВЕННЫЕ КОНКУРЕНТЫ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" y="26426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Онлайн-мафия с рейтингами, StoryForge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95728" y="2185416"/>
            <a:ext cx="164592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87168" y="2185416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Онлайн-игроки, фанаты RPG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059936" y="2185416"/>
            <a:ext cx="182880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51376" y="2185416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Автоматизация, рейтинги, RPG-миры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07024" y="2185416"/>
            <a:ext cx="265176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98464" y="2185416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Другая аудитория / другой жанр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2980944"/>
            <a:ext cx="2011680" cy="749808"/>
          </a:xfrm>
          <a:prstGeom prst="rect">
            <a:avLst/>
          </a:prstGeom>
          <a:solidFill>
            <a:srgbClr val="16192E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2980944"/>
            <a:ext cx="36576" cy="7498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305409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ТЕХНОЛОГИЧЕСКИЕ ЗАМЕНЫ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" y="343814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с голосом, Claude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395728" y="2980944"/>
            <a:ext cx="1645920" cy="749808"/>
          </a:xfrm>
          <a:prstGeom prst="rect">
            <a:avLst/>
          </a:prstGeom>
          <a:solidFill>
            <a:srgbClr val="16192E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87168" y="2980944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Все, кто хочет попробовать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059936" y="2980944"/>
            <a:ext cx="1828800" cy="749808"/>
          </a:xfrm>
          <a:prstGeom prst="rect">
            <a:avLst/>
          </a:prstGeom>
          <a:solidFill>
            <a:srgbClr val="16192E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51376" y="2980944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Гибкость, голос, эмоции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07024" y="2980944"/>
            <a:ext cx="2651760" cy="749808"/>
          </a:xfrm>
          <a:prstGeom prst="rect">
            <a:avLst/>
          </a:prstGeom>
          <a:solidFill>
            <a:srgbClr val="16192E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98464" y="2980944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знают правил мафии, нет групповой игры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3776472"/>
            <a:ext cx="201168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3776472"/>
            <a:ext cx="36576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384962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ТРАДИЦИОННАЯ ЗАМЕНА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5488" y="42336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профессиональный ведущий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395728" y="3776472"/>
            <a:ext cx="164592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87168" y="3776472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компании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059936" y="3776472"/>
            <a:ext cx="182880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51376" y="3776472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Живое общение, эмоции, атмосфера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907024" y="3776472"/>
            <a:ext cx="265176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98464" y="377647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Дорого (1 500–6 500 ₽/вечер), надо искать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65760" y="4572000"/>
            <a:ext cx="8412480" cy="42062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57200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даёт голосового ИИ-ведущего с характером, который знает правила и работает в группе — это наше окно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Критерии выбора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Топ-7 по результатам кастдева — что важно игрокам при выборе ведущего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8412480" cy="512064"/>
          </a:xfrm>
          <a:prstGeom prst="rect">
            <a:avLst/>
          </a:prstGeom>
          <a:solidFill>
            <a:srgbClr val="1E1630"/>
          </a:solidFill>
          <a:ln w="12700">
            <a:solidFill>
              <a:srgbClr val="2D1E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24128"/>
            <a:ext cx="54864" cy="5120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82296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E8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97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10698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запуска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2984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стартует за менее 1 минуты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591056"/>
            <a:ext cx="8412480" cy="512064"/>
          </a:xfrm>
          <a:prstGeom prst="rect">
            <a:avLst/>
          </a:prstGeom>
          <a:solidFill>
            <a:srgbClr val="1E1630"/>
          </a:solidFill>
          <a:ln w="12700">
            <a:solidFill>
              <a:srgbClr val="2D1E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591056"/>
            <a:ext cx="54864" cy="5120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664208"/>
            <a:ext cx="82296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E8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6642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16367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Атмосферность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186537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создаёт ощущение живого ведущего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157984"/>
            <a:ext cx="8412480" cy="512064"/>
          </a:xfrm>
          <a:prstGeom prst="rect">
            <a:avLst/>
          </a:prstGeom>
          <a:solidFill>
            <a:srgbClr val="1E1630"/>
          </a:solidFill>
          <a:ln w="12700">
            <a:solidFill>
              <a:srgbClr val="2D1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157984"/>
            <a:ext cx="54864" cy="5120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231136"/>
            <a:ext cx="82296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E833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2311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63040" y="2203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Равноправие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243230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N игроков участвуют (никто не жертвует собой)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724912"/>
            <a:ext cx="8412480" cy="512064"/>
          </a:xfrm>
          <a:prstGeom prst="rect">
            <a:avLst/>
          </a:prstGeom>
          <a:solidFill>
            <a:srgbClr val="16192E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724912"/>
            <a:ext cx="54864" cy="5120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798064"/>
            <a:ext cx="411480" cy="365760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798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2770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Соблюдение правил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299923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ведущий не ошибается в фазах и ролях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291840"/>
            <a:ext cx="8412480" cy="512064"/>
          </a:xfrm>
          <a:prstGeom prst="rect">
            <a:avLst/>
          </a:prstGeom>
          <a:solidFill>
            <a:srgbClr val="16192E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291840"/>
            <a:ext cx="54864" cy="5120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364992"/>
            <a:ext cx="411480" cy="365760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3649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51560" y="356616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150 ₽ за вечер (сопоставимо с кофе)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3858768"/>
            <a:ext cx="8412480" cy="512064"/>
          </a:xfrm>
          <a:prstGeom prst="rect">
            <a:avLst/>
          </a:prstGeom>
          <a:solidFill>
            <a:srgbClr val="16192E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858768"/>
            <a:ext cx="54864" cy="5120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3931920"/>
            <a:ext cx="411480" cy="365760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931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51560" y="3904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Простота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51560" y="413308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с телефона, без регистрации и настроек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65760" y="4425696"/>
            <a:ext cx="8412480" cy="512064"/>
          </a:xfrm>
          <a:prstGeom prst="rect">
            <a:avLst/>
          </a:prstGeom>
          <a:solidFill>
            <a:srgbClr val="16192E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25696"/>
            <a:ext cx="54864" cy="5120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" y="4498848"/>
            <a:ext cx="411480" cy="365760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4988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51560" y="4471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51560" y="470001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зависает в середине игры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Proposition (Гипотезы ценности)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чём стоит наш продукт: 3 ключевые гипотезы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2651760" cy="3474720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78992"/>
            <a:ext cx="2651760" cy="6400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243584"/>
            <a:ext cx="502920" cy="502920"/>
          </a:xfrm>
          <a:prstGeom prst="rect">
            <a:avLst/>
          </a:prstGeom>
          <a:solidFill>
            <a:srgbClr val="C41E3A"/>
          </a:solidFill>
          <a:ln w="12700">
            <a:solidFill>
              <a:srgbClr val="E8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48840" y="1243584"/>
            <a:ext cx="758952" cy="301752"/>
          </a:xfrm>
          <a:prstGeom prst="rect">
            <a:avLst/>
          </a:prstGeom>
          <a:solidFill>
            <a:srgbClr val="2A1520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243584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5488" y="1883664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Готовность платить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" y="2450592"/>
            <a:ext cx="2432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Компании друзей теряют время на споры за роль ведущего — готовы отдать 99–149 ₽ за вечер голосовому ИИ, если он говорит живо и не ошибается.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54680" y="1078992"/>
            <a:ext cx="2651760" cy="3474720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078992"/>
            <a:ext cx="2651760" cy="6400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1243584"/>
            <a:ext cx="502920" cy="502920"/>
          </a:xfrm>
          <a:prstGeom prst="rect">
            <a:avLst/>
          </a:prstGeom>
          <a:solidFill>
            <a:srgbClr val="C41E3A"/>
          </a:solidFill>
          <a:ln w="12700">
            <a:solidFill>
              <a:srgbClr val="E83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1243584"/>
            <a:ext cx="758952" cy="301752"/>
          </a:xfrm>
          <a:prstGeom prst="rect">
            <a:avLst/>
          </a:prstGeom>
          <a:solidFill>
            <a:srgbClr val="2A1520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243584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64408" y="1883664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Ценность атмосферы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64408" y="2450592"/>
            <a:ext cx="2432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Зловещий или ироничный голос делает игру ярче — опыт с нашим ведущим оценят выше, чем с текстовыми ботами (True Mafia, Mafiko).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0" y="1078992"/>
            <a:ext cx="2651760" cy="3474720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1078992"/>
            <a:ext cx="2651760" cy="6400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53328" y="1243584"/>
            <a:ext cx="502920" cy="502920"/>
          </a:xfrm>
          <a:prstGeom prst="rect">
            <a:avLst/>
          </a:prstGeom>
          <a:solidFill>
            <a:srgbClr val="C41E3A"/>
          </a:solidFill>
          <a:ln w="12700">
            <a:solidFill>
              <a:srgbClr val="E833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26680" y="1243584"/>
            <a:ext cx="758952" cy="301752"/>
          </a:xfrm>
          <a:prstGeom prst="rect">
            <a:avLst/>
          </a:prstGeom>
          <a:solidFill>
            <a:srgbClr val="2A1520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1243584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053328" y="1883664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Выбор в пользу голоса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53328" y="2450592"/>
            <a:ext cx="2432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зная о бесплатных текстовых аналогах, пользователи выберут платный голос — атмосфера перевешивает цену.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наши предположения. Следующий шаг — проверка.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Чем мы отличаемся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главных преимущества перед конкурентами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8412480" cy="1170432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11704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5214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25880" y="115214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Голос + Характер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25880" y="1581912"/>
            <a:ext cx="7223760" cy="13716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6184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Конкуренты: </a:t>
            </a:r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Текст, таблички, сухие команды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188366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Мы: </a:t>
            </a:r>
            <a:pPr indent="0" marL="0">
              <a:buNone/>
            </a:pPr>
            <a:r>
              <a:rPr lang="en-US" sz="12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Зловещий / ироничный голос, который создаёт атмосферу игры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59152"/>
            <a:ext cx="8412480" cy="1170432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59152"/>
            <a:ext cx="64008" cy="11704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323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25880" y="243230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ИИ знает правила мафии «из коробки»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25880" y="2862072"/>
            <a:ext cx="7223760" cy="13716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2898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Конкуренты: </a:t>
            </a:r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ChatGPT: надо объяснять правила каждый раз, не держит роли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25880" y="316382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Мы: </a:t>
            </a:r>
            <a:pPr indent="0" marL="0">
              <a:buNone/>
            </a:pPr>
            <a:r>
              <a:rPr lang="en-US" sz="12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сценарий, ночной опрос, автоматический подсчёт голосов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39312"/>
            <a:ext cx="8412480" cy="1170432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39312"/>
            <a:ext cx="64008" cy="11704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124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25880" y="371246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Работает в группе (мультиплеер)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325880" y="4142232"/>
            <a:ext cx="7223760" cy="13716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41788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Конкуренты: </a:t>
            </a:r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Либо 1-на-1, либо только онлайн-формат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444398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Мы: </a:t>
            </a:r>
            <a:pPr indent="0" marL="0">
              <a:buNone/>
            </a:pPr>
            <a:r>
              <a:rPr lang="en-US" sz="12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 друзей в одной комнате с одним голосовым ведущим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Core — Ядро функций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набор для проверки гипотез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4069080" cy="713232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24128"/>
            <a:ext cx="548640" cy="7132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06984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Голосовой ведущий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37160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Озвучивает события, роли и комментарии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024128"/>
            <a:ext cx="4069080" cy="713232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024128"/>
            <a:ext cx="548640" cy="7132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02412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67528" y="106984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фазами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67528" y="137160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Авто-переключение день / ночь / голосование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828800"/>
            <a:ext cx="4069080" cy="713232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828800"/>
            <a:ext cx="548640" cy="7132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82880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187452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роли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176272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Мирные, Мафия, Шериф (Дон — опционально)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828800"/>
            <a:ext cx="4069080" cy="713232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828800"/>
            <a:ext cx="548640" cy="7132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82880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67528" y="187452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Ночной опрос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67528" y="2176272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действий мафии и шерифа через интерфейс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633472"/>
            <a:ext cx="4069080" cy="713232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633472"/>
            <a:ext cx="548640" cy="7132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63347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2679192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Голосование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2980944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Кандидаты, таймер, авто-подсчёт результата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633472"/>
            <a:ext cx="4069080" cy="713232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633472"/>
            <a:ext cx="548640" cy="7132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63347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67528" y="2679192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победителя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67528" y="2980944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условий окончания игры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438144"/>
            <a:ext cx="4069080" cy="713232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438144"/>
            <a:ext cx="548640" cy="7132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43814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24128" y="348386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Раздача ролей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4128" y="3785616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распределение в начале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438144"/>
            <a:ext cx="4069080" cy="713232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3438144"/>
            <a:ext cx="548640" cy="7132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43814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67528" y="348386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игрока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367528" y="3785616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Роль, кнопки действий, лог событий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242816"/>
            <a:ext cx="4069080" cy="713232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4242816"/>
            <a:ext cx="548640" cy="7132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24281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24128" y="4288536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Комнаты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024128" y="459028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и подключение к игровой сессии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9160" y="4242816"/>
            <a:ext cx="4069080" cy="713232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09160" y="4242816"/>
            <a:ext cx="548640" cy="7132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9160" y="424281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367528" y="4288536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настройки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5367528" y="459028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Кол-во игроков, таймеры на речь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План проверки гипотез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 на каких основаниях проверяем гипотезы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86868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E833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2728" y="1024128"/>
            <a:ext cx="169164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E83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0241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62656" y="1024128"/>
            <a:ext cx="329184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E8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5808" y="1024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проверки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2784" y="1024128"/>
            <a:ext cx="265176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E833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0241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подтверждения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389888"/>
            <a:ext cx="868680" cy="1005840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2728" y="1389888"/>
            <a:ext cx="1691640" cy="1005840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62656" y="1389888"/>
            <a:ext cx="3291840" cy="1005840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1389888"/>
            <a:ext cx="2651760" cy="1005840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389888"/>
            <a:ext cx="868680" cy="1005840"/>
          </a:xfrm>
          <a:prstGeom prst="rect">
            <a:avLst/>
          </a:prstGeom>
          <a:solidFill>
            <a:srgbClr val="C41E3A"/>
          </a:solidFill>
          <a:ln w="12700">
            <a:solidFill>
              <a:srgbClr val="E833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389888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44168" y="1463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платить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54096" y="148132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Плейтест с 5 компаниями + опрос о готовности платить после игры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64224" y="1481328"/>
            <a:ext cx="2468880" cy="822960"/>
          </a:xfrm>
          <a:prstGeom prst="rect">
            <a:avLst/>
          </a:prstGeom>
          <a:solidFill>
            <a:srgbClr val="1A2510"/>
          </a:solidFill>
          <a:ln w="12700">
            <a:solidFill>
              <a:srgbClr val="2A3F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4813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 готовы заплатить за следующую сессию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468880"/>
            <a:ext cx="868680" cy="1005840"/>
          </a:xfrm>
          <a:prstGeom prst="rect">
            <a:avLst/>
          </a:prstGeom>
          <a:solidFill>
            <a:srgbClr val="16192E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2728" y="2468880"/>
            <a:ext cx="1691640" cy="1005840"/>
          </a:xfrm>
          <a:prstGeom prst="rect">
            <a:avLst/>
          </a:prstGeom>
          <a:solidFill>
            <a:srgbClr val="16192E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62656" y="2468880"/>
            <a:ext cx="3291840" cy="1005840"/>
          </a:xfrm>
          <a:prstGeom prst="rect">
            <a:avLst/>
          </a:prstGeom>
          <a:solidFill>
            <a:srgbClr val="16192E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2784" y="2468880"/>
            <a:ext cx="2651760" cy="1005840"/>
          </a:xfrm>
          <a:prstGeom prst="rect">
            <a:avLst/>
          </a:prstGeom>
          <a:solidFill>
            <a:srgbClr val="16192E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468880"/>
            <a:ext cx="868680" cy="1005840"/>
          </a:xfrm>
          <a:prstGeom prst="rect">
            <a:avLst/>
          </a:prstGeom>
          <a:solidFill>
            <a:srgbClr val="C41E3A"/>
          </a:solidFill>
          <a:ln w="12700">
            <a:solidFill>
              <a:srgbClr val="E833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468880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344168" y="25420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атмосферы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54096" y="25603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плейтест (наш голос vs текст) + оценка атмосферы (1–10)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64224" y="2560320"/>
            <a:ext cx="2468880" cy="822960"/>
          </a:xfrm>
          <a:prstGeom prst="rect">
            <a:avLst/>
          </a:prstGeom>
          <a:solidFill>
            <a:srgbClr val="1A2510"/>
          </a:solidFill>
          <a:ln w="12700">
            <a:solidFill>
              <a:srgbClr val="2A3F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2560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оценка ≥ 7/10 и &gt; 70% говорят «лучше текста»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547872"/>
            <a:ext cx="868680" cy="1005840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52728" y="3547872"/>
            <a:ext cx="1691640" cy="1005840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62656" y="3547872"/>
            <a:ext cx="3291840" cy="1005840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72784" y="3547872"/>
            <a:ext cx="2651760" cy="1005840"/>
          </a:xfrm>
          <a:prstGeom prst="rect">
            <a:avLst/>
          </a:prstGeom>
          <a:solidFill>
            <a:srgbClr val="1E22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547872"/>
            <a:ext cx="868680" cy="1005840"/>
          </a:xfrm>
          <a:prstGeom prst="rect">
            <a:avLst/>
          </a:prstGeom>
          <a:solidFill>
            <a:srgbClr val="C41E3A"/>
          </a:solidFill>
          <a:ln w="12700">
            <a:solidFill>
              <a:srgbClr val="E833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547872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344168" y="36210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в пользу голоса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054096" y="36393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плейтеста показать Mafiko и спросить: «Что выберете?»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64224" y="3639312"/>
            <a:ext cx="2468880" cy="822960"/>
          </a:xfrm>
          <a:prstGeom prst="rect">
            <a:avLst/>
          </a:prstGeom>
          <a:solidFill>
            <a:srgbClr val="1A2510"/>
          </a:solidFill>
          <a:ln w="12700">
            <a:solidFill>
              <a:srgbClr val="2A3F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37376" y="363931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60% выбирают платный голос с аргументом «атмосфера»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хотя бы 2 гипотезы из 3 подтверждаются — продукт имеет смысл развивать дальше.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ИИ Гейммастер для Мафии</dc:title>
  <dc:subject>PptxGenJS Presentation</dc:subject>
  <dc:creator>PptxGenJS</dc:creator>
  <cp:lastModifiedBy>PptxGenJS</cp:lastModifiedBy>
  <cp:revision>1</cp:revision>
  <dcterms:created xsi:type="dcterms:W3CDTF">2026-03-11T11:42:24Z</dcterms:created>
  <dcterms:modified xsi:type="dcterms:W3CDTF">2026-03-11T11:42:24Z</dcterms:modified>
</cp:coreProperties>
</file>